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IBM Plex Sans Condensed Bold" panose="020B0806050203000203"/>
      <p:bold r:id="rId17"/>
    </p:embeddedFont>
    <p:embeddedFont>
      <p:font typeface="IBM Plex Sans Bold" panose="020B0803050203000203"/>
      <p:bold r:id="rId18"/>
    </p:embeddedFont>
    <p:embeddedFont>
      <p:font typeface="IBM Plex Sans" panose="020B0503050203000203"/>
      <p:regular r:id="rId19"/>
    </p:embeddedFont>
    <p:embeddedFont>
      <p:font typeface="IBM Plex Sans Condensed" panose="020B0506050203000203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63.png"/><Relationship Id="rId3" Type="http://schemas.openxmlformats.org/officeDocument/2006/relationships/image" Target="../media/image36.png"/><Relationship Id="rId29" Type="http://schemas.openxmlformats.org/officeDocument/2006/relationships/image" Target="../media/image62.png"/><Relationship Id="rId28" Type="http://schemas.openxmlformats.org/officeDocument/2006/relationships/image" Target="../media/image61.png"/><Relationship Id="rId27" Type="http://schemas.openxmlformats.org/officeDocument/2006/relationships/image" Target="../media/image60.png"/><Relationship Id="rId26" Type="http://schemas.openxmlformats.org/officeDocument/2006/relationships/image" Target="../media/image59.png"/><Relationship Id="rId25" Type="http://schemas.openxmlformats.org/officeDocument/2006/relationships/image" Target="../media/image58.png"/><Relationship Id="rId24" Type="http://schemas.openxmlformats.org/officeDocument/2006/relationships/image" Target="../media/image57.png"/><Relationship Id="rId23" Type="http://schemas.openxmlformats.org/officeDocument/2006/relationships/image" Target="../media/image56.png"/><Relationship Id="rId22" Type="http://schemas.openxmlformats.org/officeDocument/2006/relationships/image" Target="../media/image55.png"/><Relationship Id="rId21" Type="http://schemas.openxmlformats.org/officeDocument/2006/relationships/image" Target="../media/image54.png"/><Relationship Id="rId20" Type="http://schemas.openxmlformats.org/officeDocument/2006/relationships/image" Target="../media/image53.png"/><Relationship Id="rId2" Type="http://schemas.openxmlformats.org/officeDocument/2006/relationships/image" Target="../media/image35.png"/><Relationship Id="rId19" Type="http://schemas.openxmlformats.org/officeDocument/2006/relationships/image" Target="../media/image52.png"/><Relationship Id="rId18" Type="http://schemas.openxmlformats.org/officeDocument/2006/relationships/image" Target="../media/image51.png"/><Relationship Id="rId17" Type="http://schemas.openxmlformats.org/officeDocument/2006/relationships/image" Target="../media/image50.png"/><Relationship Id="rId16" Type="http://schemas.openxmlformats.org/officeDocument/2006/relationships/image" Target="../media/image49.png"/><Relationship Id="rId15" Type="http://schemas.openxmlformats.org/officeDocument/2006/relationships/image" Target="../media/image48.png"/><Relationship Id="rId14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84.png"/><Relationship Id="rId20" Type="http://schemas.openxmlformats.org/officeDocument/2006/relationships/image" Target="../media/image83.png"/><Relationship Id="rId2" Type="http://schemas.openxmlformats.org/officeDocument/2006/relationships/image" Target="../media/image65.png"/><Relationship Id="rId19" Type="http://schemas.openxmlformats.org/officeDocument/2006/relationships/image" Target="../media/image82.png"/><Relationship Id="rId18" Type="http://schemas.openxmlformats.org/officeDocument/2006/relationships/image" Target="../media/image81.png"/><Relationship Id="rId17" Type="http://schemas.openxmlformats.org/officeDocument/2006/relationships/image" Target="../media/image80.png"/><Relationship Id="rId16" Type="http://schemas.openxmlformats.org/officeDocument/2006/relationships/image" Target="../media/image79.png"/><Relationship Id="rId15" Type="http://schemas.openxmlformats.org/officeDocument/2006/relationships/image" Target="../media/image78.png"/><Relationship Id="rId14" Type="http://schemas.openxmlformats.org/officeDocument/2006/relationships/image" Target="../media/image77.png"/><Relationship Id="rId13" Type="http://schemas.openxmlformats.org/officeDocument/2006/relationships/image" Target="../media/image76.png"/><Relationship Id="rId12" Type="http://schemas.openxmlformats.org/officeDocument/2006/relationships/image" Target="../media/image75.png"/><Relationship Id="rId11" Type="http://schemas.openxmlformats.org/officeDocument/2006/relationships/image" Target="../media/image74.png"/><Relationship Id="rId10" Type="http://schemas.openxmlformats.org/officeDocument/2006/relationships/image" Target="../media/image73.png"/><Relationship Id="rId1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107.png"/><Relationship Id="rId22" Type="http://schemas.openxmlformats.org/officeDocument/2006/relationships/image" Target="../media/image106.png"/><Relationship Id="rId21" Type="http://schemas.openxmlformats.org/officeDocument/2006/relationships/image" Target="../media/image105.png"/><Relationship Id="rId20" Type="http://schemas.openxmlformats.org/officeDocument/2006/relationships/image" Target="../media/image104.png"/><Relationship Id="rId2" Type="http://schemas.openxmlformats.org/officeDocument/2006/relationships/image" Target="../media/image86.png"/><Relationship Id="rId19" Type="http://schemas.openxmlformats.org/officeDocument/2006/relationships/image" Target="../media/image103.png"/><Relationship Id="rId18" Type="http://schemas.openxmlformats.org/officeDocument/2006/relationships/image" Target="../media/image102.png"/><Relationship Id="rId17" Type="http://schemas.openxmlformats.org/officeDocument/2006/relationships/image" Target="../media/image101.png"/><Relationship Id="rId16" Type="http://schemas.openxmlformats.org/officeDocument/2006/relationships/image" Target="../media/image100.png"/><Relationship Id="rId15" Type="http://schemas.openxmlformats.org/officeDocument/2006/relationships/image" Target="../media/image99.png"/><Relationship Id="rId14" Type="http://schemas.openxmlformats.org/officeDocument/2006/relationships/image" Target="../media/image98.png"/><Relationship Id="rId13" Type="http://schemas.openxmlformats.org/officeDocument/2006/relationships/image" Target="../media/image97.png"/><Relationship Id="rId12" Type="http://schemas.openxmlformats.org/officeDocument/2006/relationships/image" Target="../media/image96.png"/><Relationship Id="rId11" Type="http://schemas.openxmlformats.org/officeDocument/2006/relationships/image" Target="../media/image95.png"/><Relationship Id="rId10" Type="http://schemas.openxmlformats.org/officeDocument/2006/relationships/image" Target="../media/image94.png"/><Relationship Id="rId1" Type="http://schemas.openxmlformats.org/officeDocument/2006/relationships/image" Target="../media/image8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png"/><Relationship Id="rId8" Type="http://schemas.openxmlformats.org/officeDocument/2006/relationships/image" Target="../media/image115.png"/><Relationship Id="rId7" Type="http://schemas.openxmlformats.org/officeDocument/2006/relationships/image" Target="../media/image114.png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8.png"/><Relationship Id="rId10" Type="http://schemas.openxmlformats.org/officeDocument/2006/relationships/image" Target="../media/image117.png"/><Relationship Id="rId1" Type="http://schemas.openxmlformats.org/officeDocument/2006/relationships/image" Target="../media/image10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6.png"/><Relationship Id="rId7" Type="http://schemas.openxmlformats.org/officeDocument/2006/relationships/image" Target="../media/image125.png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4.png"/><Relationship Id="rId7" Type="http://schemas.openxmlformats.org/officeDocument/2006/relationships/image" Target="../media/image133.png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1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1248" y="1807273"/>
            <a:ext cx="8119872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85"/>
              </a:lnSpc>
            </a:pPr>
            <a:r>
              <a:rPr lang="en-US" sz="12155" b="1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SEMANTICA</a:t>
            </a:r>
            <a:endParaRPr lang="en-US" sz="12155" b="1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41248" y="3560254"/>
            <a:ext cx="7790688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Making AI Explainable, Traceable and Auditable</a:t>
            </a:r>
            <a:endParaRPr lang="en-US" sz="5600" b="1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47700" y="5572125"/>
            <a:ext cx="2190750" cy="219075"/>
          </a:xfrm>
          <a:custGeom>
            <a:avLst/>
            <a:gdLst/>
            <a:ahLst/>
            <a:cxnLst/>
            <a:rect l="l" t="t" r="r" b="b"/>
            <a:pathLst>
              <a:path w="2190750" h="219075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1248" y="6103810"/>
            <a:ext cx="577900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30" b="1">
                <a:solidFill>
                  <a:srgbClr val="0085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Knowledge Graph &amp; Decision Intelligence Infrastructure</a:t>
            </a:r>
            <a:endParaRPr lang="en-US" sz="3330" b="1">
              <a:solidFill>
                <a:srgbClr val="0085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1248" y="7418261"/>
            <a:ext cx="193852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980" b="1">
                <a:solidFill>
                  <a:srgbClr val="0085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PRESENTED BY</a:t>
            </a:r>
            <a:endParaRPr lang="en-US" sz="1980" b="1">
              <a:solidFill>
                <a:srgbClr val="0085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1248" y="7556373"/>
            <a:ext cx="7790688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5"/>
              </a:lnSpc>
            </a:pPr>
          </a:p>
          <a:p>
            <a:pPr algn="l">
              <a:lnSpc>
                <a:spcPts val="3355"/>
              </a:lnSpc>
            </a:pPr>
            <a:r>
              <a:rPr lang="en-US" sz="279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Dhinesha G</a:t>
            </a:r>
            <a:endParaRPr lang="en-US" sz="279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  <a:p>
            <a:pPr algn="l">
              <a:lnSpc>
                <a:spcPts val="3355"/>
              </a:lnSpc>
            </a:pPr>
            <a:r>
              <a:rPr lang="en-US" sz="279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Trainee Programmer</a:t>
            </a:r>
            <a:endParaRPr lang="en-US" sz="279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  <a:p>
            <a:pPr algn="l">
              <a:lnSpc>
                <a:spcPts val="3355"/>
              </a:lnSpc>
            </a:pPr>
            <a:r>
              <a:rPr lang="en-US" sz="279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GAIRAA Technology Solutions Pvt Ltd.,</a:t>
            </a:r>
            <a:endParaRPr lang="en-US" sz="279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  <a:p>
            <a:pPr algn="l">
              <a:lnSpc>
                <a:spcPts val="3355"/>
              </a:lnSpc>
            </a:pPr>
            <a:r>
              <a:rPr lang="en-US" sz="279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Coiambatore.</a:t>
            </a:r>
            <a:endParaRPr lang="en-US" sz="279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  <a:p>
            <a:pPr algn="l">
              <a:lnSpc>
                <a:spcPts val="335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1435727"/>
            <a:ext cx="5340096" cy="220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8540" b="1" spc="-170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What is Semantica?</a:t>
            </a:r>
            <a:endParaRPr lang="en-US" sz="8540" b="1" spc="-170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" y="3934300"/>
            <a:ext cx="5522976" cy="118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550" spc="-5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Semantica is the </a:t>
            </a:r>
            <a:r>
              <a:rPr lang="en-US" sz="2550" b="1" spc="-50">
                <a:solidFill>
                  <a:srgbClr val="0085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AI infrastructure layer</a:t>
            </a:r>
            <a:r>
              <a:rPr lang="en-US" sz="2550" spc="-5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that brings structure, provenance, and governance to intelligent systems.</a:t>
            </a:r>
            <a:endParaRPr lang="en-US" sz="2550" spc="-5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400" y="5560270"/>
            <a:ext cx="4425696" cy="69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265" spc="-4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Works beneath LLMs, vector stores, and agent frameworks</a:t>
            </a:r>
            <a:endParaRPr lang="en-US" sz="2265" spc="-4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" y="6496387"/>
            <a:ext cx="4663440" cy="69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265" spc="-4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Creates structured, queryable context with Knowledge Graphs</a:t>
            </a:r>
            <a:endParaRPr lang="en-US" sz="2265" spc="-4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7432504"/>
            <a:ext cx="4242816" cy="69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265" spc="-4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Enables reasoning, provenance, decision tracking, and governance</a:t>
            </a:r>
            <a:endParaRPr lang="en-US" sz="2265" spc="-4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8389195"/>
            <a:ext cx="4352544" cy="69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265" spc="-4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Graph construction, reasoning, and provenance do not require an LLM</a:t>
            </a:r>
            <a:endParaRPr lang="en-US" sz="2265" spc="-4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620000" y="1066800"/>
            <a:ext cx="3267075" cy="1724025"/>
          </a:xfrm>
          <a:custGeom>
            <a:avLst/>
            <a:gdLst/>
            <a:ahLst/>
            <a:cxnLst/>
            <a:rect l="l" t="t" r="r" b="b"/>
            <a:pathLst>
              <a:path w="3267075" h="1724025">
                <a:moveTo>
                  <a:pt x="0" y="0"/>
                </a:moveTo>
                <a:lnTo>
                  <a:pt x="3267075" y="0"/>
                </a:lnTo>
                <a:lnTo>
                  <a:pt x="3267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814816" y="1666242"/>
            <a:ext cx="822960" cy="40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2620" b="1" spc="-52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LLMs</a:t>
            </a:r>
            <a:endParaRPr lang="en-US" sz="2620" b="1" spc="-52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668000" y="1066800"/>
            <a:ext cx="3267075" cy="1724025"/>
          </a:xfrm>
          <a:custGeom>
            <a:avLst/>
            <a:gdLst/>
            <a:ahLst/>
            <a:cxnLst/>
            <a:rect l="l" t="t" r="r" b="b"/>
            <a:pathLst>
              <a:path w="3267075" h="1724025">
                <a:moveTo>
                  <a:pt x="0" y="0"/>
                </a:moveTo>
                <a:lnTo>
                  <a:pt x="3267075" y="0"/>
                </a:lnTo>
                <a:lnTo>
                  <a:pt x="3267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448288" y="1666129"/>
            <a:ext cx="1847088" cy="402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2585" b="1" spc="-5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Vector Store</a:t>
            </a:r>
            <a:endParaRPr lang="en-US" sz="2585" b="1" spc="-5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925550" y="1066800"/>
            <a:ext cx="3276600" cy="1724025"/>
          </a:xfrm>
          <a:custGeom>
            <a:avLst/>
            <a:gdLst/>
            <a:ahLst/>
            <a:cxnLst/>
            <a:rect l="l" t="t" r="r" b="b"/>
            <a:pathLst>
              <a:path w="3276600" h="1724025">
                <a:moveTo>
                  <a:pt x="0" y="0"/>
                </a:moveTo>
                <a:lnTo>
                  <a:pt x="3276600" y="0"/>
                </a:lnTo>
                <a:lnTo>
                  <a:pt x="3276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776704" y="1680304"/>
            <a:ext cx="1444752" cy="38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550" b="1" spc="-50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AI Agents</a:t>
            </a:r>
            <a:endParaRPr lang="en-US" sz="2550" b="1" spc="-50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1972925" y="2571750"/>
            <a:ext cx="657225" cy="1076325"/>
          </a:xfrm>
          <a:custGeom>
            <a:avLst/>
            <a:gdLst/>
            <a:ahLst/>
            <a:cxnLst/>
            <a:rect l="l" t="t" r="r" b="b"/>
            <a:pathLst>
              <a:path w="657225" h="1076325">
                <a:moveTo>
                  <a:pt x="0" y="0"/>
                </a:moveTo>
                <a:lnTo>
                  <a:pt x="657225" y="0"/>
                </a:lnTo>
                <a:lnTo>
                  <a:pt x="65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620000" y="3429000"/>
            <a:ext cx="9582150" cy="2571750"/>
          </a:xfrm>
          <a:custGeom>
            <a:avLst/>
            <a:gdLst/>
            <a:ahLst/>
            <a:cxnLst/>
            <a:rect l="l" t="t" r="r" b="b"/>
            <a:pathLst>
              <a:path w="9582150" h="2571750">
                <a:moveTo>
                  <a:pt x="0" y="0"/>
                </a:moveTo>
                <a:lnTo>
                  <a:pt x="9582150" y="0"/>
                </a:lnTo>
                <a:lnTo>
                  <a:pt x="95821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96144" y="4112854"/>
            <a:ext cx="4206240" cy="84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0"/>
              </a:lnSpc>
            </a:pPr>
            <a:r>
              <a:rPr lang="en-US" sz="6380" b="1" spc="-127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SEMANTICA</a:t>
            </a:r>
            <a:endParaRPr lang="en-US" sz="6380" b="1" spc="-127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607040" y="5040984"/>
            <a:ext cx="3584448" cy="41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690" b="1" spc="-53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AI Infrastructure Layer</a:t>
            </a:r>
            <a:endParaRPr lang="en-US" sz="2690" b="1" spc="-53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1972925" y="6000750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181850" y="6858000"/>
            <a:ext cx="2838450" cy="2362200"/>
          </a:xfrm>
          <a:custGeom>
            <a:avLst/>
            <a:gdLst/>
            <a:ahLst/>
            <a:cxnLst/>
            <a:rect l="l" t="t" r="r" b="b"/>
            <a:pathLst>
              <a:path w="2838450" h="236220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863840" y="7412164"/>
            <a:ext cx="1682496" cy="32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160" b="1" spc="-43">
                <a:solidFill>
                  <a:srgbClr val="0085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KNOWLEDGE</a:t>
            </a:r>
            <a:endParaRPr lang="en-US" sz="2160" b="1" spc="-43">
              <a:solidFill>
                <a:srgbClr val="0085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735824" y="8043264"/>
            <a:ext cx="1920240" cy="578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1910" spc="-38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Structured, queryable context</a:t>
            </a:r>
            <a:endParaRPr lang="en-US" sz="1910" spc="-38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9791700" y="6858000"/>
            <a:ext cx="2619375" cy="2362200"/>
          </a:xfrm>
          <a:custGeom>
            <a:avLst/>
            <a:gdLst/>
            <a:ahLst/>
            <a:cxnLst/>
            <a:rect l="l" t="t" r="r" b="b"/>
            <a:pathLst>
              <a:path w="2619375" h="2362200">
                <a:moveTo>
                  <a:pt x="0" y="0"/>
                </a:moveTo>
                <a:lnTo>
                  <a:pt x="2619375" y="0"/>
                </a:lnTo>
                <a:lnTo>
                  <a:pt x="2619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387584" y="7407176"/>
            <a:ext cx="1536192" cy="32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090" b="1" spc="-41">
                <a:solidFill>
                  <a:srgbClr val="0085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REASONING</a:t>
            </a:r>
            <a:endParaRPr lang="en-US" sz="2090" b="1" spc="-41">
              <a:solidFill>
                <a:srgbClr val="0085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497312" y="7996427"/>
            <a:ext cx="1316736" cy="66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160" spc="-43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Meaningful inference</a:t>
            </a:r>
            <a:endParaRPr lang="en-US" sz="2160" spc="-43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2192000" y="6858000"/>
            <a:ext cx="2619375" cy="2362200"/>
          </a:xfrm>
          <a:custGeom>
            <a:avLst/>
            <a:gdLst/>
            <a:ahLst/>
            <a:cxnLst/>
            <a:rect l="l" t="t" r="r" b="b"/>
            <a:pathLst>
              <a:path w="2619375" h="2362200">
                <a:moveTo>
                  <a:pt x="0" y="0"/>
                </a:moveTo>
                <a:lnTo>
                  <a:pt x="2619375" y="0"/>
                </a:lnTo>
                <a:lnTo>
                  <a:pt x="2619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673584" y="7407514"/>
            <a:ext cx="1810512" cy="33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195" b="1" spc="-43">
                <a:solidFill>
                  <a:srgbClr val="0085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PROVENANCE</a:t>
            </a:r>
            <a:endParaRPr lang="en-US" sz="2195" b="1" spc="-43">
              <a:solidFill>
                <a:srgbClr val="0085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911328" y="7986790"/>
            <a:ext cx="1316736" cy="67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</a:pPr>
            <a:r>
              <a:rPr lang="en-US" sz="2125" spc="-42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Origins and lineage</a:t>
            </a:r>
            <a:endParaRPr lang="en-US" sz="2125" spc="-42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582775" y="6858000"/>
            <a:ext cx="2838450" cy="2362200"/>
          </a:xfrm>
          <a:custGeom>
            <a:avLst/>
            <a:gdLst/>
            <a:ahLst/>
            <a:cxnLst/>
            <a:rect l="l" t="t" r="r" b="b"/>
            <a:pathLst>
              <a:path w="2838450" h="236220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5307056" y="7407176"/>
            <a:ext cx="1426464" cy="32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090" b="1" spc="-41">
                <a:solidFill>
                  <a:srgbClr val="0085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DECISIONS</a:t>
            </a:r>
            <a:endParaRPr lang="en-US" sz="2090" b="1" spc="-41">
              <a:solidFill>
                <a:srgbClr val="0085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307056" y="7996202"/>
            <a:ext cx="1426464" cy="653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090" spc="-41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Tracked and governed</a:t>
            </a:r>
            <a:endParaRPr lang="en-US" sz="2090" spc="-41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8096" y="691515"/>
            <a:ext cx="1117396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90"/>
              </a:lnSpc>
            </a:pPr>
            <a:r>
              <a:rPr lang="en-US" sz="7160" b="1" spc="-143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Why Do We Need Semantica?</a:t>
            </a:r>
            <a:endParaRPr lang="en-US" sz="7160" b="1" spc="-143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47700" y="1924050"/>
            <a:ext cx="5448300" cy="1724025"/>
          </a:xfrm>
          <a:custGeom>
            <a:avLst/>
            <a:gdLst/>
            <a:ahLst/>
            <a:cxnLst/>
            <a:rect l="l" t="t" r="r" b="b"/>
            <a:pathLst>
              <a:path w="5448300" h="1724025">
                <a:moveTo>
                  <a:pt x="0" y="0"/>
                </a:moveTo>
                <a:lnTo>
                  <a:pt x="5448300" y="0"/>
                </a:lnTo>
                <a:lnTo>
                  <a:pt x="54483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15568" y="2305431"/>
            <a:ext cx="398678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37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AI answers often lack explanations for why decisions were made</a:t>
            </a:r>
            <a:endParaRPr lang="en-US" sz="237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47700" y="3429000"/>
            <a:ext cx="5448300" cy="1285875"/>
          </a:xfrm>
          <a:custGeom>
            <a:avLst/>
            <a:gdLst/>
            <a:ahLst/>
            <a:cxnLst/>
            <a:rect l="l" t="t" r="r" b="b"/>
            <a:pathLst>
              <a:path w="5448300" h="1285875">
                <a:moveTo>
                  <a:pt x="0" y="0"/>
                </a:moveTo>
                <a:lnTo>
                  <a:pt x="5448300" y="0"/>
                </a:lnTo>
                <a:lnTo>
                  <a:pt x="5448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15568" y="3813048"/>
            <a:ext cx="3401568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26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Information is fragmented across sources</a:t>
            </a:r>
            <a:endParaRPr lang="en-US" sz="226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47700" y="4714875"/>
            <a:ext cx="5448300" cy="1285875"/>
          </a:xfrm>
          <a:custGeom>
            <a:avLst/>
            <a:gdLst/>
            <a:ahLst/>
            <a:cxnLst/>
            <a:rect l="l" t="t" r="r" b="b"/>
            <a:pathLst>
              <a:path w="5448300" h="1285875">
                <a:moveTo>
                  <a:pt x="0" y="0"/>
                </a:moveTo>
                <a:lnTo>
                  <a:pt x="5448300" y="0"/>
                </a:lnTo>
                <a:lnTo>
                  <a:pt x="5448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15568" y="4965192"/>
            <a:ext cx="382219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26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Difficult to track relationships between entities</a:t>
            </a:r>
            <a:endParaRPr lang="en-US" sz="226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647700" y="5781675"/>
            <a:ext cx="5448300" cy="1295400"/>
          </a:xfrm>
          <a:custGeom>
            <a:avLst/>
            <a:gdLst/>
            <a:ahLst/>
            <a:cxnLst/>
            <a:rect l="l" t="t" r="r" b="b"/>
            <a:pathLst>
              <a:path w="5448300" h="1295400">
                <a:moveTo>
                  <a:pt x="0" y="0"/>
                </a:moveTo>
                <a:lnTo>
                  <a:pt x="5448300" y="0"/>
                </a:lnTo>
                <a:lnTo>
                  <a:pt x="5448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15568" y="6127623"/>
            <a:ext cx="3218688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Conflicting facts may go unnoticed</a:t>
            </a:r>
            <a:endParaRPr lang="en-US" sz="230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47700" y="7067550"/>
            <a:ext cx="5448300" cy="1076325"/>
          </a:xfrm>
          <a:custGeom>
            <a:avLst/>
            <a:gdLst/>
            <a:ahLst/>
            <a:cxnLst/>
            <a:rect l="l" t="t" r="r" b="b"/>
            <a:pathLst>
              <a:path w="5448300" h="1076325">
                <a:moveTo>
                  <a:pt x="0" y="0"/>
                </a:moveTo>
                <a:lnTo>
                  <a:pt x="5448300" y="0"/>
                </a:lnTo>
                <a:lnTo>
                  <a:pt x="5448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15568" y="7299579"/>
            <a:ext cx="329184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23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Decision history and provenance often missing</a:t>
            </a:r>
            <a:endParaRPr lang="en-US" sz="223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47700" y="8143875"/>
            <a:ext cx="5448300" cy="1076325"/>
          </a:xfrm>
          <a:custGeom>
            <a:avLst/>
            <a:gdLst/>
            <a:ahLst/>
            <a:cxnLst/>
            <a:rect l="l" t="t" r="r" b="b"/>
            <a:pathLst>
              <a:path w="5448300" h="1076325">
                <a:moveTo>
                  <a:pt x="0" y="0"/>
                </a:moveTo>
                <a:lnTo>
                  <a:pt x="5448300" y="0"/>
                </a:lnTo>
                <a:lnTo>
                  <a:pt x="5448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15568" y="8484680"/>
            <a:ext cx="373075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23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AI auditing is hard to perform</a:t>
            </a:r>
            <a:endParaRPr lang="en-US" sz="223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876925" y="1924050"/>
            <a:ext cx="5667375" cy="7077075"/>
          </a:xfrm>
          <a:custGeom>
            <a:avLst/>
            <a:gdLst/>
            <a:ahLst/>
            <a:cxnLst/>
            <a:rect l="l" t="t" r="r" b="b"/>
            <a:pathLst>
              <a:path w="5667375" h="7077075">
                <a:moveTo>
                  <a:pt x="0" y="0"/>
                </a:moveTo>
                <a:lnTo>
                  <a:pt x="5667375" y="0"/>
                </a:lnTo>
                <a:lnTo>
                  <a:pt x="566737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534775" y="3638550"/>
            <a:ext cx="5448300" cy="3648075"/>
          </a:xfrm>
          <a:custGeom>
            <a:avLst/>
            <a:gdLst/>
            <a:ahLst/>
            <a:cxnLst/>
            <a:rect l="l" t="t" r="r" b="b"/>
            <a:pathLst>
              <a:path w="5448300" h="3648075">
                <a:moveTo>
                  <a:pt x="0" y="0"/>
                </a:moveTo>
                <a:lnTo>
                  <a:pt x="5448300" y="0"/>
                </a:lnTo>
                <a:lnTo>
                  <a:pt x="54483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399264" y="4341495"/>
            <a:ext cx="373075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35"/>
              </a:lnSpc>
            </a:pPr>
            <a:r>
              <a:rPr lang="en-US" sz="5030" b="1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SEMANTICA</a:t>
            </a:r>
            <a:endParaRPr lang="en-US" sz="5030" b="1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271248" y="5263442"/>
            <a:ext cx="3730752" cy="130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515" b="1">
                <a:solidFill>
                  <a:srgbClr val="37C8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adds structured context, reasoning, provenance and auditability.</a:t>
            </a:r>
            <a:endParaRPr lang="en-US" sz="2515" b="1">
              <a:solidFill>
                <a:srgbClr val="37C8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8096" y="815494"/>
            <a:ext cx="7735824" cy="1164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5"/>
              </a:lnSpc>
            </a:pPr>
            <a:r>
              <a:rPr lang="en-US" sz="8715" b="1" spc="-87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Why Semantica?</a:t>
            </a:r>
            <a:endParaRPr lang="en-US" sz="8715" b="1" spc="-87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68096" y="2135505"/>
            <a:ext cx="20116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690" b="1" spc="-26">
                <a:solidFill>
                  <a:srgbClr val="3798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THE 5 WHYS</a:t>
            </a:r>
            <a:endParaRPr lang="en-US" sz="2690" b="1" spc="-26">
              <a:solidFill>
                <a:srgbClr val="3798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28800" y="2948315"/>
            <a:ext cx="475488" cy="116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5"/>
              </a:lnSpc>
            </a:pPr>
            <a:r>
              <a:rPr lang="en-US" sz="8825" b="1" spc="-88">
                <a:solidFill>
                  <a:srgbClr val="3798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1</a:t>
            </a:r>
            <a:endParaRPr lang="en-US" sz="8825" b="1" spc="-88">
              <a:solidFill>
                <a:srgbClr val="3798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47700" y="4067175"/>
            <a:ext cx="3057525" cy="3648075"/>
          </a:xfrm>
          <a:custGeom>
            <a:avLst/>
            <a:gdLst/>
            <a:ahLst/>
            <a:cxnLst/>
            <a:rect l="l" t="t" r="r" b="b"/>
            <a:pathLst>
              <a:path w="3057525" h="3648075">
                <a:moveTo>
                  <a:pt x="0" y="0"/>
                </a:moveTo>
                <a:lnTo>
                  <a:pt x="3057525" y="0"/>
                </a:lnTo>
                <a:lnTo>
                  <a:pt x="30575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53312" y="4691253"/>
            <a:ext cx="1609344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620" b="1" spc="-26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Better</a:t>
            </a:r>
            <a:endParaRPr lang="en-US" sz="2620" b="1" spc="-26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  <a:p>
            <a:pPr algn="ctr">
              <a:lnSpc>
                <a:spcPts val="3145"/>
              </a:lnSpc>
            </a:pPr>
            <a:r>
              <a:rPr lang="en-US" sz="2620" b="1" spc="-26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AI context</a:t>
            </a:r>
            <a:endParaRPr lang="en-US" sz="2620" b="1" spc="-26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4128" y="5853006"/>
            <a:ext cx="2267712" cy="98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raw documents andembeddings lack full relationships.</a:t>
            </a:r>
            <a:endParaRPr lang="en-US" sz="191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476625" y="557212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03520" y="2948315"/>
            <a:ext cx="640080" cy="116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5"/>
              </a:lnSpc>
            </a:pPr>
            <a:r>
              <a:rPr lang="en-US" sz="8825" b="1" spc="-88">
                <a:solidFill>
                  <a:srgbClr val="3798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2</a:t>
            </a:r>
            <a:endParaRPr lang="en-US" sz="8825" b="1" spc="-88">
              <a:solidFill>
                <a:srgbClr val="3798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133850" y="4067175"/>
            <a:ext cx="3057525" cy="3648075"/>
          </a:xfrm>
          <a:custGeom>
            <a:avLst/>
            <a:gdLst/>
            <a:ahLst/>
            <a:cxnLst/>
            <a:rect l="l" t="t" r="r" b="b"/>
            <a:pathLst>
              <a:path w="3057525" h="3648075">
                <a:moveTo>
                  <a:pt x="0" y="0"/>
                </a:moveTo>
                <a:lnTo>
                  <a:pt x="3057525" y="0"/>
                </a:lnTo>
                <a:lnTo>
                  <a:pt x="30575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553712" y="4635246"/>
            <a:ext cx="217627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2690" b="1" spc="-26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Relationships</a:t>
            </a:r>
            <a:endParaRPr lang="en-US" sz="2690" b="1" spc="-26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81728" y="5411773"/>
            <a:ext cx="1920240" cy="144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09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AI decisions depend on connected facts and entities.</a:t>
            </a:r>
            <a:endParaRPr lang="en-US" sz="209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962775" y="55721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778240" y="2948315"/>
            <a:ext cx="640080" cy="116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5"/>
              </a:lnSpc>
            </a:pPr>
            <a:r>
              <a:rPr lang="en-US" sz="8825" b="1" spc="-88">
                <a:solidFill>
                  <a:srgbClr val="3798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3</a:t>
            </a:r>
            <a:endParaRPr lang="en-US" sz="8825" b="1" spc="-88">
              <a:solidFill>
                <a:srgbClr val="3798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7620000" y="4067175"/>
            <a:ext cx="3048000" cy="3648075"/>
          </a:xfrm>
          <a:custGeom>
            <a:avLst/>
            <a:gdLst/>
            <a:ahLst/>
            <a:cxnLst/>
            <a:rect l="l" t="t" r="r" b="b"/>
            <a:pathLst>
              <a:path w="3048000" h="3648075">
                <a:moveTo>
                  <a:pt x="0" y="0"/>
                </a:moveTo>
                <a:lnTo>
                  <a:pt x="3048000" y="0"/>
                </a:lnTo>
                <a:lnTo>
                  <a:pt x="30480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156575" y="4635500"/>
            <a:ext cx="2019935" cy="5016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270"/>
              </a:lnSpc>
            </a:pPr>
            <a:r>
              <a:rPr lang="en-US" sz="2725" b="1" spc="-27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Traceability</a:t>
            </a:r>
            <a:endParaRPr lang="en-US" sz="2725" b="1" spc="-27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156448" y="5347349"/>
            <a:ext cx="1901952" cy="158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0"/>
              </a:lnSpc>
            </a:pPr>
            <a:r>
              <a:rPr lang="en-US" sz="226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to know where information and decisions came from.</a:t>
            </a:r>
            <a:endParaRPr lang="en-US" sz="226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0448925" y="55721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252960" y="2948315"/>
            <a:ext cx="640080" cy="116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5"/>
              </a:lnSpc>
            </a:pPr>
            <a:r>
              <a:rPr lang="en-US" sz="8825" b="1" spc="-88">
                <a:solidFill>
                  <a:srgbClr val="3798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4</a:t>
            </a:r>
            <a:endParaRPr lang="en-US" sz="8825" b="1" spc="-88">
              <a:solidFill>
                <a:srgbClr val="3798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1096625" y="4067175"/>
            <a:ext cx="3057525" cy="3648075"/>
          </a:xfrm>
          <a:custGeom>
            <a:avLst/>
            <a:gdLst/>
            <a:ahLst/>
            <a:cxnLst/>
            <a:rect l="l" t="t" r="r" b="b"/>
            <a:pathLst>
              <a:path w="3057525" h="3648075">
                <a:moveTo>
                  <a:pt x="0" y="0"/>
                </a:moveTo>
                <a:lnTo>
                  <a:pt x="3057525" y="0"/>
                </a:lnTo>
                <a:lnTo>
                  <a:pt x="30575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356848" y="4662678"/>
            <a:ext cx="245059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835" b="1" spc="-28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Reasoning and provenance</a:t>
            </a:r>
            <a:endParaRPr lang="en-US" sz="2835" b="1" spc="-28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704320" y="5981546"/>
            <a:ext cx="1719072" cy="124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0"/>
              </a:lnSpc>
            </a:pPr>
            <a:r>
              <a:rPr lang="en-US" sz="240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to explain and audit AI decisions.</a:t>
            </a:r>
            <a:endParaRPr lang="en-US" sz="240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3925550" y="557212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5727680" y="2948315"/>
            <a:ext cx="640080" cy="116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5"/>
              </a:lnSpc>
            </a:pPr>
            <a:r>
              <a:rPr lang="en-US" sz="8825" b="1" spc="-88">
                <a:solidFill>
                  <a:srgbClr val="3798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5</a:t>
            </a:r>
            <a:endParaRPr lang="en-US" sz="8825" b="1" spc="-88">
              <a:solidFill>
                <a:srgbClr val="3798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4582775" y="4067175"/>
            <a:ext cx="3057525" cy="3648075"/>
          </a:xfrm>
          <a:custGeom>
            <a:avLst/>
            <a:gdLst/>
            <a:ahLst/>
            <a:cxnLst/>
            <a:rect l="l" t="t" r="r" b="b"/>
            <a:pathLst>
              <a:path w="3057525" h="3648075">
                <a:moveTo>
                  <a:pt x="0" y="0"/>
                </a:moveTo>
                <a:lnTo>
                  <a:pt x="3057525" y="0"/>
                </a:lnTo>
                <a:lnTo>
                  <a:pt x="30575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5215616" y="4635246"/>
            <a:ext cx="171907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725" b="1" spc="-27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Semantica</a:t>
            </a:r>
            <a:endParaRPr lang="en-US" sz="2725" b="1" spc="-27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813280" y="5438514"/>
            <a:ext cx="2560320" cy="171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09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combines Knowledge Graphs, reasoning, provenance, decision intelligence, and governance.</a:t>
            </a:r>
            <a:endParaRPr lang="en-US" sz="209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2609850" y="7715250"/>
            <a:ext cx="13068300" cy="1933575"/>
          </a:xfrm>
          <a:custGeom>
            <a:avLst/>
            <a:gdLst/>
            <a:ahLst/>
            <a:cxnLst/>
            <a:rect l="l" t="t" r="r" b="b"/>
            <a:pathLst>
              <a:path w="13068300" h="1933575">
                <a:moveTo>
                  <a:pt x="0" y="0"/>
                </a:moveTo>
                <a:lnTo>
                  <a:pt x="13068300" y="0"/>
                </a:lnTo>
                <a:lnTo>
                  <a:pt x="13068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3236976" y="8478393"/>
            <a:ext cx="1181404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0"/>
              </a:lnSpc>
            </a:pPr>
            <a:r>
              <a:rPr lang="en-US" sz="3825" b="1" spc="-38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Semantica helps make AI more </a:t>
            </a:r>
            <a:r>
              <a:rPr lang="en-US" sz="3825" b="1" spc="-38">
                <a:solidFill>
                  <a:srgbClr val="3798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explainable and auditable.</a:t>
            </a:r>
            <a:endParaRPr lang="en-US" sz="3825" b="1" spc="-38">
              <a:solidFill>
                <a:srgbClr val="3798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4672" y="957187"/>
            <a:ext cx="8065008" cy="862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0"/>
              </a:lnSpc>
            </a:pPr>
            <a:r>
              <a:rPr lang="en-US" sz="6590" b="1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How Semantica Works</a:t>
            </a:r>
            <a:endParaRPr lang="en-US" sz="6590" b="1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828925" y="1924050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66160" y="2352104"/>
            <a:ext cx="89611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84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Data Sources</a:t>
            </a:r>
            <a:endParaRPr lang="en-US" sz="184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000625" y="2352675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38775" y="1924050"/>
            <a:ext cx="2181225" cy="1295400"/>
          </a:xfrm>
          <a:custGeom>
            <a:avLst/>
            <a:gdLst/>
            <a:ahLst/>
            <a:cxnLst/>
            <a:rect l="l" t="t" r="r" b="b"/>
            <a:pathLst>
              <a:path w="2181225" h="1295400">
                <a:moveTo>
                  <a:pt x="0" y="0"/>
                </a:moveTo>
                <a:lnTo>
                  <a:pt x="2181225" y="0"/>
                </a:lnTo>
                <a:lnTo>
                  <a:pt x="2181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26480" y="2474405"/>
            <a:ext cx="73152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Ingest</a:t>
            </a:r>
            <a:endParaRPr lang="en-US" sz="187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400925" y="235267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829550" y="1924050"/>
            <a:ext cx="2190750" cy="1295400"/>
          </a:xfrm>
          <a:custGeom>
            <a:avLst/>
            <a:gdLst/>
            <a:ahLst/>
            <a:cxnLst/>
            <a:rect l="l" t="t" r="r" b="b"/>
            <a:pathLst>
              <a:path w="2190750" h="1295400">
                <a:moveTo>
                  <a:pt x="0" y="0"/>
                </a:moveTo>
                <a:lnTo>
                  <a:pt x="2190750" y="0"/>
                </a:lnTo>
                <a:lnTo>
                  <a:pt x="2190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91700" y="2352675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29850" y="1924050"/>
            <a:ext cx="2619375" cy="1295400"/>
          </a:xfrm>
          <a:custGeom>
            <a:avLst/>
            <a:gdLst/>
            <a:ahLst/>
            <a:cxnLst/>
            <a:rect l="l" t="t" r="r" b="b"/>
            <a:pathLst>
              <a:path w="2619375" h="1295400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917936" y="2469642"/>
            <a:ext cx="113385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84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Normalize</a:t>
            </a:r>
            <a:endParaRPr lang="en-US" sz="184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2620625" y="2352675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058775" y="1924050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917168" y="2474405"/>
            <a:ext cx="51206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80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Split</a:t>
            </a:r>
            <a:endParaRPr lang="en-US" sz="180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5240000" y="2352675"/>
            <a:ext cx="1095375" cy="1504950"/>
          </a:xfrm>
          <a:custGeom>
            <a:avLst/>
            <a:gdLst/>
            <a:ahLst/>
            <a:cxnLst/>
            <a:rect l="l" t="t" r="r" b="b"/>
            <a:pathLst>
              <a:path w="1095375" h="1504950">
                <a:moveTo>
                  <a:pt x="0" y="0"/>
                </a:moveTo>
                <a:lnTo>
                  <a:pt x="1095375" y="0"/>
                </a:lnTo>
                <a:lnTo>
                  <a:pt x="1095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828925" y="3429000"/>
            <a:ext cx="2838450" cy="1285875"/>
          </a:xfrm>
          <a:custGeom>
            <a:avLst/>
            <a:gdLst/>
            <a:ahLst/>
            <a:cxnLst/>
            <a:rect l="l" t="t" r="r" b="b"/>
            <a:pathLst>
              <a:path w="2838450" h="1285875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218688" y="3679888"/>
            <a:ext cx="210312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84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Extract Entities/Relations/ Events</a:t>
            </a:r>
            <a:endParaRPr lang="en-US" sz="184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5438775" y="385762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096000" y="3429000"/>
            <a:ext cx="2838450" cy="1285875"/>
          </a:xfrm>
          <a:custGeom>
            <a:avLst/>
            <a:gdLst/>
            <a:ahLst/>
            <a:cxnLst/>
            <a:rect l="l" t="t" r="r" b="b"/>
            <a:pathLst>
              <a:path w="2838450" h="1285875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022592" y="3802571"/>
            <a:ext cx="109728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Conflict Detection</a:t>
            </a:r>
            <a:endParaRPr lang="en-US" sz="187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705850" y="38576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353550" y="3429000"/>
            <a:ext cx="3057525" cy="1285875"/>
          </a:xfrm>
          <a:custGeom>
            <a:avLst/>
            <a:gdLst/>
            <a:ahLst/>
            <a:cxnLst/>
            <a:rect l="l" t="t" r="r" b="b"/>
            <a:pathLst>
              <a:path w="3057525" h="128587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058400" y="3945446"/>
            <a:ext cx="151790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80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Deduplication</a:t>
            </a:r>
            <a:endParaRPr lang="en-US" sz="180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2192000" y="38576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620625" y="3429000"/>
            <a:ext cx="2838450" cy="1285875"/>
          </a:xfrm>
          <a:custGeom>
            <a:avLst/>
            <a:gdLst/>
            <a:ahLst/>
            <a:cxnLst/>
            <a:rect l="l" t="t" r="r" b="b"/>
            <a:pathLst>
              <a:path w="2838450" h="1285875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3350240" y="3793046"/>
            <a:ext cx="1335024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98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Knowledge Graph</a:t>
            </a:r>
            <a:endParaRPr lang="en-US" sz="198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733550" y="3429000"/>
            <a:ext cx="1104900" cy="1076325"/>
          </a:xfrm>
          <a:custGeom>
            <a:avLst/>
            <a:gdLst/>
            <a:ahLst/>
            <a:cxnLst/>
            <a:rect l="l" t="t" r="r" b="b"/>
            <a:pathLst>
              <a:path w="1104900" h="1076325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5240000" y="4067175"/>
            <a:ext cx="1095375" cy="1295400"/>
          </a:xfrm>
          <a:custGeom>
            <a:avLst/>
            <a:gdLst/>
            <a:ahLst/>
            <a:cxnLst/>
            <a:rect l="l" t="t" r="r" b="b"/>
            <a:pathLst>
              <a:path w="1095375" h="1295400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828925" y="4924425"/>
            <a:ext cx="8058150" cy="1076325"/>
          </a:xfrm>
          <a:custGeom>
            <a:avLst/>
            <a:gdLst/>
            <a:ahLst/>
            <a:cxnLst/>
            <a:rect l="l" t="t" r="r" b="b"/>
            <a:pathLst>
              <a:path w="8058150" h="1076325">
                <a:moveTo>
                  <a:pt x="0" y="0"/>
                </a:moveTo>
                <a:lnTo>
                  <a:pt x="8058150" y="0"/>
                </a:lnTo>
                <a:lnTo>
                  <a:pt x="805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4206240" y="5339715"/>
            <a:ext cx="532180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84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Ontology + Reasoning + Provenance + Decisions</a:t>
            </a:r>
            <a:endParaRPr lang="en-US" sz="184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10668000" y="5143500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1315700" y="4924425"/>
            <a:ext cx="4143375" cy="1076325"/>
          </a:xfrm>
          <a:custGeom>
            <a:avLst/>
            <a:gdLst/>
            <a:ahLst/>
            <a:cxnLst/>
            <a:rect l="l" t="t" r="r" b="b"/>
            <a:pathLst>
              <a:path w="4143375" h="1076325">
                <a:moveTo>
                  <a:pt x="0" y="0"/>
                </a:moveTo>
                <a:lnTo>
                  <a:pt x="4143375" y="0"/>
                </a:lnTo>
                <a:lnTo>
                  <a:pt x="4143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2417552" y="5231702"/>
            <a:ext cx="195681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80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Enriched Knowledge Graph</a:t>
            </a:r>
            <a:endParaRPr lang="en-US" sz="180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733550" y="5143500"/>
            <a:ext cx="3714750" cy="1933575"/>
          </a:xfrm>
          <a:custGeom>
            <a:avLst/>
            <a:gdLst/>
            <a:ahLst/>
            <a:cxnLst/>
            <a:rect l="l" t="t" r="r" b="b"/>
            <a:pathLst>
              <a:path w="3714750" h="1933575">
                <a:moveTo>
                  <a:pt x="0" y="0"/>
                </a:moveTo>
                <a:lnTo>
                  <a:pt x="3714750" y="0"/>
                </a:lnTo>
                <a:lnTo>
                  <a:pt x="3714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219700" y="6210300"/>
            <a:ext cx="2838450" cy="1295400"/>
          </a:xfrm>
          <a:custGeom>
            <a:avLst/>
            <a:gdLst/>
            <a:ahLst/>
            <a:cxnLst/>
            <a:rect l="l" t="t" r="r" b="b"/>
            <a:pathLst>
              <a:path w="2838450" h="1295400">
                <a:moveTo>
                  <a:pt x="0" y="0"/>
                </a:moveTo>
                <a:lnTo>
                  <a:pt x="2838450" y="0"/>
                </a:lnTo>
                <a:lnTo>
                  <a:pt x="2838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5907024" y="6540436"/>
            <a:ext cx="1627632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194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Vector Store + Graph Store</a:t>
            </a:r>
            <a:endParaRPr lang="en-US" sz="194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8048625" y="6429375"/>
            <a:ext cx="1314450" cy="647700"/>
          </a:xfrm>
          <a:custGeom>
            <a:avLst/>
            <a:gdLst/>
            <a:ahLst/>
            <a:cxnLst/>
            <a:rect l="l" t="t" r="r" b="b"/>
            <a:pathLst>
              <a:path w="1314450" h="64770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9144000" y="6210300"/>
            <a:ext cx="3705225" cy="1295400"/>
          </a:xfrm>
          <a:custGeom>
            <a:avLst/>
            <a:gdLst/>
            <a:ahLst/>
            <a:cxnLst/>
            <a:rect l="l" t="t" r="r" b="b"/>
            <a:pathLst>
              <a:path w="3705225" h="1295400">
                <a:moveTo>
                  <a:pt x="0" y="0"/>
                </a:moveTo>
                <a:lnTo>
                  <a:pt x="3705225" y="0"/>
                </a:lnTo>
                <a:lnTo>
                  <a:pt x="3705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9784080" y="6549961"/>
            <a:ext cx="2596896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98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Export / Visualization / REST / MCP /CLI</a:t>
            </a:r>
            <a:endParaRPr lang="en-US" sz="198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12620625" y="5572125"/>
            <a:ext cx="3714750" cy="1285875"/>
          </a:xfrm>
          <a:custGeom>
            <a:avLst/>
            <a:gdLst/>
            <a:ahLst/>
            <a:cxnLst/>
            <a:rect l="l" t="t" r="r" b="b"/>
            <a:pathLst>
              <a:path w="3714750" h="1285875">
                <a:moveTo>
                  <a:pt x="0" y="0"/>
                </a:moveTo>
                <a:lnTo>
                  <a:pt x="3714750" y="0"/>
                </a:lnTo>
                <a:lnTo>
                  <a:pt x="3714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647700" y="7496175"/>
            <a:ext cx="3495675" cy="2362200"/>
          </a:xfrm>
          <a:custGeom>
            <a:avLst/>
            <a:gdLst/>
            <a:ahLst/>
            <a:cxnLst/>
            <a:rect l="l" t="t" r="r" b="b"/>
            <a:pathLst>
              <a:path w="3495675" h="2362200">
                <a:moveTo>
                  <a:pt x="0" y="0"/>
                </a:moveTo>
                <a:lnTo>
                  <a:pt x="3495675" y="0"/>
                </a:lnTo>
                <a:lnTo>
                  <a:pt x="3495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828800" y="7997571"/>
            <a:ext cx="106070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2480" b="1">
                <a:solidFill>
                  <a:srgbClr val="0069C6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INGEST</a:t>
            </a:r>
            <a:endParaRPr lang="en-US" sz="2480" b="1">
              <a:solidFill>
                <a:srgbClr val="0069C6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52144" y="8545396"/>
            <a:ext cx="2450592" cy="613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5"/>
              </a:lnSpc>
            </a:pPr>
            <a:r>
              <a:rPr lang="en-US" sz="191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Collect and parse data from multiple sources</a:t>
            </a:r>
            <a:endParaRPr lang="en-US" sz="191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46" name="Freeform 46"/>
          <p:cNvSpPr/>
          <p:nvPr/>
        </p:nvSpPr>
        <p:spPr>
          <a:xfrm>
            <a:off x="3914775" y="7496175"/>
            <a:ext cx="3276600" cy="2362200"/>
          </a:xfrm>
          <a:custGeom>
            <a:avLst/>
            <a:gdLst/>
            <a:ahLst/>
            <a:cxnLst/>
            <a:rect l="l" t="t" r="r" b="b"/>
            <a:pathLst>
              <a:path w="3276600" h="2362200">
                <a:moveTo>
                  <a:pt x="0" y="0"/>
                </a:moveTo>
                <a:lnTo>
                  <a:pt x="3276600" y="0"/>
                </a:lnTo>
                <a:lnTo>
                  <a:pt x="3276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4919472" y="8002333"/>
            <a:ext cx="135331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069C6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EXTRACT</a:t>
            </a:r>
            <a:endParaRPr lang="en-US" sz="2550" b="1">
              <a:solidFill>
                <a:srgbClr val="0069C6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389120" y="8575807"/>
            <a:ext cx="2450592" cy="87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184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Identify entities, relations, and events from unstructured data</a:t>
            </a:r>
            <a:endParaRPr lang="en-US" sz="184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558784" y="2469642"/>
            <a:ext cx="64008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84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Parse</a:t>
            </a:r>
            <a:endParaRPr lang="en-US" sz="184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174736" y="8002333"/>
            <a:ext cx="135331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069C6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CLEANSE</a:t>
            </a:r>
            <a:endParaRPr lang="en-US" sz="2550" b="1">
              <a:solidFill>
                <a:srgbClr val="0069C6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844147" y="7962900"/>
            <a:ext cx="113385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069C6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ENRICH</a:t>
            </a:r>
            <a:endParaRPr lang="en-US" sz="2550" b="1">
              <a:solidFill>
                <a:srgbClr val="0069C6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4662404" y="8002333"/>
            <a:ext cx="259689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069C6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STORE &amp; DELIVER</a:t>
            </a:r>
            <a:endParaRPr lang="en-US" sz="2550" b="1">
              <a:solidFill>
                <a:srgbClr val="0069C6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829550" y="8556757"/>
            <a:ext cx="2377440" cy="97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0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Detect conflicts and remove duplicates for trusted data</a:t>
            </a:r>
            <a:endParaRPr lang="en-US" sz="20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1029950" y="8524875"/>
            <a:ext cx="2779776" cy="88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5"/>
              </a:lnSpc>
            </a:pPr>
            <a:r>
              <a:rPr lang="en-US" sz="180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Build a knowledge graph with reasoning, provenance, and decisions</a:t>
            </a:r>
            <a:endParaRPr lang="en-US" sz="180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4737461" y="8603481"/>
            <a:ext cx="2395728" cy="90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0"/>
              </a:lnSpc>
            </a:pPr>
            <a:r>
              <a:rPr lang="en-US" sz="187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Store for fast querying and deliver through multiple interfaces</a:t>
            </a:r>
            <a:endParaRPr lang="en-US" sz="187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56" name="Freeform 56"/>
          <p:cNvSpPr/>
          <p:nvPr/>
        </p:nvSpPr>
        <p:spPr>
          <a:xfrm>
            <a:off x="7296150" y="7487255"/>
            <a:ext cx="3276600" cy="2362200"/>
          </a:xfrm>
          <a:custGeom>
            <a:avLst/>
            <a:gdLst/>
            <a:ahLst/>
            <a:cxnLst/>
            <a:rect l="l" t="t" r="r" b="b"/>
            <a:pathLst>
              <a:path w="3276600" h="2362200">
                <a:moveTo>
                  <a:pt x="0" y="0"/>
                </a:moveTo>
                <a:lnTo>
                  <a:pt x="3276600" y="0"/>
                </a:lnTo>
                <a:lnTo>
                  <a:pt x="3276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10763250" y="7625282"/>
            <a:ext cx="3276600" cy="2224173"/>
          </a:xfrm>
          <a:custGeom>
            <a:avLst/>
            <a:gdLst/>
            <a:ahLst/>
            <a:cxnLst/>
            <a:rect l="l" t="t" r="r" b="b"/>
            <a:pathLst>
              <a:path w="3276600" h="2224173">
                <a:moveTo>
                  <a:pt x="0" y="0"/>
                </a:moveTo>
                <a:lnTo>
                  <a:pt x="3276600" y="0"/>
                </a:lnTo>
                <a:lnTo>
                  <a:pt x="3276600" y="2224173"/>
                </a:lnTo>
                <a:lnTo>
                  <a:pt x="0" y="222417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t="-4796" b="-1409"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4144625" y="7487255"/>
            <a:ext cx="3276600" cy="2330855"/>
          </a:xfrm>
          <a:custGeom>
            <a:avLst/>
            <a:gdLst/>
            <a:ahLst/>
            <a:cxnLst/>
            <a:rect l="l" t="t" r="r" b="b"/>
            <a:pathLst>
              <a:path w="3276600" h="2330855">
                <a:moveTo>
                  <a:pt x="0" y="0"/>
                </a:moveTo>
                <a:lnTo>
                  <a:pt x="3276600" y="0"/>
                </a:lnTo>
                <a:lnTo>
                  <a:pt x="3276600" y="2330856"/>
                </a:lnTo>
                <a:lnTo>
                  <a:pt x="0" y="233085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b="-1344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3504" y="547306"/>
            <a:ext cx="10405872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70"/>
              </a:lnSpc>
            </a:pPr>
            <a:r>
              <a:rPr lang="en-US" sz="7975" b="1" spc="-239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What Can Semantica Do?</a:t>
            </a:r>
            <a:endParaRPr lang="en-US" sz="7975" b="1" spc="-239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3504" y="1796740"/>
            <a:ext cx="8887968" cy="89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62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Semantica powers </a:t>
            </a:r>
            <a:r>
              <a:rPr lang="en-US" sz="2620" b="1">
                <a:solidFill>
                  <a:srgbClr val="0085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trustworthy AI</a:t>
            </a:r>
            <a:r>
              <a:rPr lang="en-US" sz="262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with structured context, traceable decisions, and governed intelligence.</a:t>
            </a:r>
            <a:endParaRPr lang="en-US" sz="262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28625" y="320992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0976" y="3701224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01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66775" y="4286250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9264" y="4843355"/>
            <a:ext cx="2487168" cy="78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spc="-69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Context / Knowledge Graphs</a:t>
            </a:r>
            <a:endParaRPr lang="en-US" sz="2300" b="1" spc="-69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914775" y="320992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43984" y="3701224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02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352925" y="4286250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462145" y="4834255"/>
            <a:ext cx="2393315" cy="7023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270"/>
              </a:lnSpc>
            </a:pPr>
            <a:r>
              <a:rPr lang="en-US" sz="2335" b="1" spc="-70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Decision Intelligence</a:t>
            </a:r>
            <a:endParaRPr lang="en-US" sz="2335" b="1" spc="-70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7400925" y="3209925"/>
            <a:ext cx="3486150" cy="3219450"/>
          </a:xfrm>
          <a:custGeom>
            <a:avLst/>
            <a:gdLst/>
            <a:ahLst/>
            <a:cxnLst/>
            <a:rect l="l" t="t" r="r" b="b"/>
            <a:pathLst>
              <a:path w="3486150" h="3219450">
                <a:moveTo>
                  <a:pt x="0" y="0"/>
                </a:moveTo>
                <a:lnTo>
                  <a:pt x="3486150" y="0"/>
                </a:lnTo>
                <a:lnTo>
                  <a:pt x="34861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936992" y="3701224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03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7829550" y="4286250"/>
            <a:ext cx="2628900" cy="219075"/>
          </a:xfrm>
          <a:custGeom>
            <a:avLst/>
            <a:gdLst/>
            <a:ahLst/>
            <a:cxnLst/>
            <a:rect l="l" t="t" r="r" b="b"/>
            <a:pathLst>
              <a:path w="2628900" h="219075">
                <a:moveTo>
                  <a:pt x="0" y="0"/>
                </a:moveTo>
                <a:lnTo>
                  <a:pt x="2628900" y="0"/>
                </a:lnTo>
                <a:lnTo>
                  <a:pt x="2628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955280" y="4807506"/>
            <a:ext cx="1883664" cy="86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80" b="1" spc="-74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Deterministic Reasoning</a:t>
            </a:r>
            <a:endParaRPr lang="en-US" sz="2480" b="1" spc="-74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0877550" y="320992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430000" y="3701224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04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1315700" y="4286250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448288" y="4790257"/>
            <a:ext cx="1938528" cy="89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620" b="1" spc="-78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Provenance &amp; Lineage</a:t>
            </a:r>
            <a:endParaRPr lang="en-US" sz="2620" b="1" spc="-78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4363700" y="320992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923008" y="3701224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05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4801850" y="4286250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4941296" y="4825206"/>
            <a:ext cx="1298448" cy="82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0" b="1" spc="-7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Conflict Detection</a:t>
            </a:r>
            <a:endParaRPr lang="en-US" sz="2370" b="1" spc="-7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28625" y="642937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50976" y="6900482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06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866775" y="7496175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969264" y="7989064"/>
            <a:ext cx="2487168" cy="89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585" b="1" spc="-77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Entity Resolution / Deduplication</a:t>
            </a:r>
            <a:endParaRPr lang="en-US" sz="2585" b="1" spc="-77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3914775" y="642937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443984" y="6900482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07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4352925" y="7496175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4462145" y="8025130"/>
            <a:ext cx="2872105" cy="864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 b="1" spc="-72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Ontology &amp; Governance</a:t>
            </a:r>
            <a:endParaRPr lang="en-US" sz="2405" b="1" spc="-72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7400925" y="6429375"/>
            <a:ext cx="3486150" cy="3219450"/>
          </a:xfrm>
          <a:custGeom>
            <a:avLst/>
            <a:gdLst/>
            <a:ahLst/>
            <a:cxnLst/>
            <a:rect l="l" t="t" r="r" b="b"/>
            <a:pathLst>
              <a:path w="3486150" h="3219450">
                <a:moveTo>
                  <a:pt x="0" y="0"/>
                </a:moveTo>
                <a:lnTo>
                  <a:pt x="3486150" y="0"/>
                </a:lnTo>
                <a:lnTo>
                  <a:pt x="34861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7936992" y="6900482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08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7829550" y="7496175"/>
            <a:ext cx="2628900" cy="219075"/>
          </a:xfrm>
          <a:custGeom>
            <a:avLst/>
            <a:gdLst/>
            <a:ahLst/>
            <a:cxnLst/>
            <a:rect l="l" t="t" r="r" b="b"/>
            <a:pathLst>
              <a:path w="2628900" h="219075">
                <a:moveTo>
                  <a:pt x="0" y="0"/>
                </a:moveTo>
                <a:lnTo>
                  <a:pt x="2628900" y="0"/>
                </a:lnTo>
                <a:lnTo>
                  <a:pt x="2628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7955280" y="8024913"/>
            <a:ext cx="1261872" cy="82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 b="1" spc="-72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Graph Analytics</a:t>
            </a:r>
            <a:endParaRPr lang="en-US" sz="2405" b="1" spc="-72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0877550" y="642937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1430000" y="6900482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09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11315700" y="7496175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1448288" y="8011180"/>
            <a:ext cx="1682496" cy="389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spc="-69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Visualization</a:t>
            </a:r>
            <a:endParaRPr lang="en-US" sz="2300" b="1" spc="-69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14363700" y="642937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4923008" y="6900482"/>
            <a:ext cx="51206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930" b="1" spc="-117">
                <a:solidFill>
                  <a:srgbClr val="0085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10</a:t>
            </a:r>
            <a:endParaRPr lang="en-US" sz="3930" b="1" spc="-117">
              <a:solidFill>
                <a:srgbClr val="0085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14801850" y="7496175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4941296" y="8069837"/>
            <a:ext cx="2487168" cy="74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195" b="1" spc="-65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Multi-source Knowledge Pipeline</a:t>
            </a:r>
            <a:endParaRPr lang="en-US" sz="2195" b="1" spc="-65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8368" y="833628"/>
            <a:ext cx="753465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5"/>
              </a:lnSpc>
            </a:pPr>
            <a:r>
              <a:rPr lang="en-US" sz="6980" b="1" spc="-279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Real-World Example</a:t>
            </a:r>
            <a:endParaRPr lang="en-US" sz="6980" b="1" spc="-279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58368" y="1954911"/>
            <a:ext cx="515721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3470" b="1">
                <a:solidFill>
                  <a:srgbClr val="006E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Drug Interaction Detection</a:t>
            </a:r>
            <a:endParaRPr lang="en-US" sz="3470" b="1">
              <a:solidFill>
                <a:srgbClr val="006E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743700" y="2143125"/>
            <a:ext cx="1752600" cy="1714500"/>
          </a:xfrm>
          <a:custGeom>
            <a:avLst/>
            <a:gdLst/>
            <a:ahLst/>
            <a:cxnLst/>
            <a:rect l="l" t="t" r="r" b="b"/>
            <a:pathLst>
              <a:path w="1752600" h="17145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181850" y="2352675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267700" y="2781300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53550" y="2143125"/>
            <a:ext cx="1752600" cy="1714500"/>
          </a:xfrm>
          <a:custGeom>
            <a:avLst/>
            <a:gdLst/>
            <a:ahLst/>
            <a:cxnLst/>
            <a:rect l="l" t="t" r="r" b="b"/>
            <a:pathLst>
              <a:path w="1752600" h="17145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91700" y="2571750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877550" y="2781300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72925" y="2143125"/>
            <a:ext cx="1743075" cy="1714500"/>
          </a:xfrm>
          <a:custGeom>
            <a:avLst/>
            <a:gdLst/>
            <a:ahLst/>
            <a:cxnLst/>
            <a:rect l="l" t="t" r="r" b="b"/>
            <a:pathLst>
              <a:path w="1743075" h="1714500">
                <a:moveTo>
                  <a:pt x="0" y="0"/>
                </a:moveTo>
                <a:lnTo>
                  <a:pt x="1743075" y="0"/>
                </a:lnTo>
                <a:lnTo>
                  <a:pt x="1743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115800" y="2633980"/>
            <a:ext cx="1538605" cy="751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sz="244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Interacts with</a:t>
            </a:r>
            <a:endParaRPr lang="en-US" sz="244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716000" y="2781300"/>
            <a:ext cx="1095375" cy="438150"/>
          </a:xfrm>
          <a:custGeom>
            <a:avLst/>
            <a:gdLst/>
            <a:ahLst/>
            <a:cxnLst/>
            <a:rect l="l" t="t" r="r" b="b"/>
            <a:pathLst>
              <a:path w="1095375" h="438150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582775" y="2143125"/>
            <a:ext cx="1752600" cy="1714500"/>
          </a:xfrm>
          <a:custGeom>
            <a:avLst/>
            <a:gdLst/>
            <a:ahLst/>
            <a:cxnLst/>
            <a:rect l="l" t="t" r="r" b="b"/>
            <a:pathLst>
              <a:path w="1752600" h="17145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020925" y="2571750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620625" y="3638550"/>
            <a:ext cx="447675" cy="1076325"/>
          </a:xfrm>
          <a:custGeom>
            <a:avLst/>
            <a:gdLst/>
            <a:ahLst/>
            <a:cxnLst/>
            <a:rect l="l" t="t" r="r" b="b"/>
            <a:pathLst>
              <a:path w="447675" h="107632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972925" y="4495800"/>
            <a:ext cx="1743075" cy="1933575"/>
          </a:xfrm>
          <a:custGeom>
            <a:avLst/>
            <a:gdLst/>
            <a:ahLst/>
            <a:cxnLst/>
            <a:rect l="l" t="t" r="r" b="b"/>
            <a:pathLst>
              <a:path w="1743075" h="1933575">
                <a:moveTo>
                  <a:pt x="0" y="0"/>
                </a:moveTo>
                <a:lnTo>
                  <a:pt x="1743075" y="0"/>
                </a:lnTo>
                <a:lnTo>
                  <a:pt x="1743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620625" y="6210300"/>
            <a:ext cx="447675" cy="866775"/>
          </a:xfrm>
          <a:custGeom>
            <a:avLst/>
            <a:gdLst/>
            <a:ahLst/>
            <a:cxnLst/>
            <a:rect l="l" t="t" r="r" b="b"/>
            <a:pathLst>
              <a:path w="447675" h="8667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972925" y="7067550"/>
            <a:ext cx="1743075" cy="1724025"/>
          </a:xfrm>
          <a:custGeom>
            <a:avLst/>
            <a:gdLst/>
            <a:ahLst/>
            <a:cxnLst/>
            <a:rect l="l" t="t" r="r" b="b"/>
            <a:pathLst>
              <a:path w="1743075" h="1724025">
                <a:moveTo>
                  <a:pt x="0" y="0"/>
                </a:moveTo>
                <a:lnTo>
                  <a:pt x="1743075" y="0"/>
                </a:lnTo>
                <a:lnTo>
                  <a:pt x="1743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401550" y="7496175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716000" y="7715250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801850" y="6638925"/>
            <a:ext cx="2619375" cy="2362200"/>
          </a:xfrm>
          <a:custGeom>
            <a:avLst/>
            <a:gdLst/>
            <a:ahLst/>
            <a:cxnLst/>
            <a:rect l="l" t="t" r="r" b="b"/>
            <a:pathLst>
              <a:path w="2619375" h="2362200">
                <a:moveTo>
                  <a:pt x="0" y="0"/>
                </a:moveTo>
                <a:lnTo>
                  <a:pt x="2619375" y="0"/>
                </a:lnTo>
                <a:lnTo>
                  <a:pt x="2619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267700" y="4067175"/>
            <a:ext cx="2190750" cy="1724025"/>
          </a:xfrm>
          <a:custGeom>
            <a:avLst/>
            <a:gdLst/>
            <a:ahLst/>
            <a:cxnLst/>
            <a:rect l="l" t="t" r="r" b="b"/>
            <a:pathLst>
              <a:path w="2190750" h="1724025">
                <a:moveTo>
                  <a:pt x="0" y="0"/>
                </a:moveTo>
                <a:lnTo>
                  <a:pt x="2190750" y="0"/>
                </a:lnTo>
                <a:lnTo>
                  <a:pt x="21907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486775" y="5353050"/>
            <a:ext cx="3705225" cy="866775"/>
          </a:xfrm>
          <a:custGeom>
            <a:avLst/>
            <a:gdLst/>
            <a:ahLst/>
            <a:cxnLst/>
            <a:rect l="l" t="t" r="r" b="b"/>
            <a:pathLst>
              <a:path w="3705225" h="866775">
                <a:moveTo>
                  <a:pt x="0" y="0"/>
                </a:moveTo>
                <a:lnTo>
                  <a:pt x="3705225" y="0"/>
                </a:lnTo>
                <a:lnTo>
                  <a:pt x="3705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267700" y="6858000"/>
            <a:ext cx="3924300" cy="1285875"/>
          </a:xfrm>
          <a:custGeom>
            <a:avLst/>
            <a:gdLst/>
            <a:ahLst/>
            <a:cxnLst/>
            <a:rect l="l" t="t" r="r" b="b"/>
            <a:pathLst>
              <a:path w="3924300" h="1285875">
                <a:moveTo>
                  <a:pt x="0" y="0"/>
                </a:moveTo>
                <a:lnTo>
                  <a:pt x="3924300" y="0"/>
                </a:lnTo>
                <a:lnTo>
                  <a:pt x="3924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743700" y="5353050"/>
            <a:ext cx="1971675" cy="1933575"/>
          </a:xfrm>
          <a:custGeom>
            <a:avLst/>
            <a:gdLst/>
            <a:ahLst/>
            <a:cxnLst/>
            <a:rect l="l" t="t" r="r" b="b"/>
            <a:pathLst>
              <a:path w="1971675" h="19335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400925" y="5572125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115800" y="5026660"/>
            <a:ext cx="1704975" cy="828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269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Possible Risk</a:t>
            </a:r>
            <a:endParaRPr lang="en-US" sz="269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5050770" y="7555230"/>
            <a:ext cx="2270125" cy="5886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420"/>
              </a:lnSpc>
            </a:pPr>
            <a:r>
              <a:rPr lang="en-US" sz="201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AI Recommendation</a:t>
            </a:r>
            <a:endParaRPr lang="en-US" sz="201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639925" y="2016823"/>
            <a:ext cx="17559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5"/>
              </a:lnSpc>
            </a:pPr>
            <a:r>
              <a:rPr lang="en-US" sz="251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Medicine B</a:t>
            </a:r>
            <a:endParaRPr lang="en-US" sz="251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510332" y="2016823"/>
            <a:ext cx="18962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5"/>
              </a:lnSpc>
            </a:pPr>
            <a:r>
              <a:rPr lang="en-US" sz="251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Medicine A</a:t>
            </a:r>
            <a:endParaRPr lang="en-US" sz="251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187565" y="3830320"/>
            <a:ext cx="1281430" cy="2755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780"/>
              </a:lnSpc>
            </a:pPr>
            <a:r>
              <a:rPr lang="en-US" sz="231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Patient</a:t>
            </a:r>
            <a:endParaRPr lang="en-US" sz="231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052881" y="6486525"/>
            <a:ext cx="135331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2480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Evidence</a:t>
            </a:r>
            <a:endParaRPr lang="en-US" sz="2480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362688" y="8724900"/>
            <a:ext cx="135331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5" b="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Clinical Guideline</a:t>
            </a:r>
            <a:endParaRPr lang="en-US" sz="2335" b="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58368" y="3687178"/>
            <a:ext cx="5447157" cy="390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065" lvl="1" indent="-2597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2405" spc="-48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Semantica connects patients, medicines, interactions, and evidence.</a:t>
            </a:r>
            <a:endParaRPr lang="en-US" sz="2405" spc="-48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520065" lvl="1" indent="-2597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2405" spc="-48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Builds a Knowledge Graph with provenance tracking.</a:t>
            </a:r>
            <a:endParaRPr lang="en-US" sz="2405" spc="-48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520065" lvl="1" indent="-2597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2405" spc="-48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Applies reasoning rules to identify possible risks.</a:t>
            </a:r>
            <a:endParaRPr lang="en-US" sz="2405" spc="-48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520065" lvl="1" indent="-2597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2405" spc="-48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Explains why recommendations occur.</a:t>
            </a:r>
            <a:endParaRPr lang="en-US" sz="2405" spc="-48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520065" lvl="1" indent="-2597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2405" spc="-48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Maintains a complete audit trail.</a:t>
            </a:r>
            <a:endParaRPr lang="en-US" sz="2405" spc="-48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8096" y="985606"/>
            <a:ext cx="11228832" cy="84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0"/>
              </a:lnSpc>
            </a:pPr>
            <a:r>
              <a:rPr lang="en-US" sz="638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LLM VS RAG VS SEMANTICA</a:t>
            </a:r>
            <a:endParaRPr lang="en-US" sz="638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47700" y="1924050"/>
            <a:ext cx="5448300" cy="5791200"/>
          </a:xfrm>
          <a:custGeom>
            <a:avLst/>
            <a:gdLst/>
            <a:ahLst/>
            <a:cxnLst/>
            <a:rect l="l" t="t" r="r" b="b"/>
            <a:pathLst>
              <a:path w="5448300" h="5791200">
                <a:moveTo>
                  <a:pt x="0" y="0"/>
                </a:moveTo>
                <a:lnTo>
                  <a:pt x="5448300" y="0"/>
                </a:lnTo>
                <a:lnTo>
                  <a:pt x="54483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700" y="1924050"/>
            <a:ext cx="5448300" cy="1076325"/>
          </a:xfrm>
          <a:custGeom>
            <a:avLst/>
            <a:gdLst/>
            <a:ahLst/>
            <a:cxnLst/>
            <a:rect l="l" t="t" r="r" b="b"/>
            <a:pathLst>
              <a:path w="5448300" h="1076325">
                <a:moveTo>
                  <a:pt x="0" y="0"/>
                </a:moveTo>
                <a:lnTo>
                  <a:pt x="5448300" y="0"/>
                </a:lnTo>
                <a:lnTo>
                  <a:pt x="5448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80944" y="2367869"/>
            <a:ext cx="950976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0"/>
              </a:lnSpc>
            </a:pPr>
            <a:r>
              <a:rPr lang="en-US" sz="36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LLM</a:t>
            </a:r>
            <a:endParaRPr lang="en-US" sz="36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63040" y="3472915"/>
            <a:ext cx="3438144" cy="82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Generates and understands language</a:t>
            </a:r>
            <a:endParaRPr lang="en-US" sz="240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63040" y="4641547"/>
            <a:ext cx="3017520" cy="78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26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Uses learned knowledge and context</a:t>
            </a:r>
            <a:endParaRPr lang="en-US" sz="226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63040" y="5756629"/>
            <a:ext cx="3675888" cy="82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No structured decision history or provenance</a:t>
            </a:r>
            <a:endParaRPr lang="en-US" sz="240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6096000" y="1924050"/>
            <a:ext cx="5010150" cy="5791200"/>
          </a:xfrm>
          <a:custGeom>
            <a:avLst/>
            <a:gdLst/>
            <a:ahLst/>
            <a:cxnLst/>
            <a:rect l="l" t="t" r="r" b="b"/>
            <a:pathLst>
              <a:path w="5010150" h="5791200">
                <a:moveTo>
                  <a:pt x="0" y="0"/>
                </a:moveTo>
                <a:lnTo>
                  <a:pt x="5010150" y="0"/>
                </a:lnTo>
                <a:lnTo>
                  <a:pt x="50101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096000" y="1924050"/>
            <a:ext cx="5010150" cy="1076325"/>
          </a:xfrm>
          <a:custGeom>
            <a:avLst/>
            <a:gdLst/>
            <a:ahLst/>
            <a:cxnLst/>
            <a:rect l="l" t="t" r="r" b="b"/>
            <a:pathLst>
              <a:path w="5010150" h="1076325">
                <a:moveTo>
                  <a:pt x="0" y="0"/>
                </a:moveTo>
                <a:lnTo>
                  <a:pt x="5010150" y="0"/>
                </a:lnTo>
                <a:lnTo>
                  <a:pt x="5010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101584" y="2367869"/>
            <a:ext cx="1005840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0"/>
              </a:lnSpc>
            </a:pPr>
            <a:r>
              <a:rPr lang="en-US" sz="36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RAG</a:t>
            </a:r>
            <a:endParaRPr lang="en-US" sz="36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38544" y="3490615"/>
            <a:ext cx="2304288" cy="78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Retieves relevant information</a:t>
            </a:r>
            <a:endParaRPr lang="en-US" sz="230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38544" y="4614772"/>
            <a:ext cx="2834640" cy="82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Usesembeddings and vector stores</a:t>
            </a:r>
            <a:endParaRPr lang="en-US" sz="240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638544" y="5756629"/>
            <a:ext cx="3090672" cy="82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Focuses on retrieval and grounding</a:t>
            </a:r>
            <a:endParaRPr lang="en-US" sz="240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1096625" y="1924050"/>
            <a:ext cx="6324600" cy="5791200"/>
          </a:xfrm>
          <a:custGeom>
            <a:avLst/>
            <a:gdLst/>
            <a:ahLst/>
            <a:cxnLst/>
            <a:rect l="l" t="t" r="r" b="b"/>
            <a:pathLst>
              <a:path w="6324600" h="5791200">
                <a:moveTo>
                  <a:pt x="0" y="0"/>
                </a:moveTo>
                <a:lnTo>
                  <a:pt x="6324600" y="0"/>
                </a:lnTo>
                <a:lnTo>
                  <a:pt x="63246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096625" y="1924050"/>
            <a:ext cx="6324600" cy="1076325"/>
          </a:xfrm>
          <a:custGeom>
            <a:avLst/>
            <a:gdLst/>
            <a:ahLst/>
            <a:cxnLst/>
            <a:rect l="l" t="t" r="r" b="b"/>
            <a:pathLst>
              <a:path w="6324600" h="1076325">
                <a:moveTo>
                  <a:pt x="0" y="0"/>
                </a:moveTo>
                <a:lnTo>
                  <a:pt x="6324600" y="0"/>
                </a:lnTo>
                <a:lnTo>
                  <a:pt x="6324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021056" y="2367869"/>
            <a:ext cx="2779776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0"/>
              </a:lnSpc>
            </a:pPr>
            <a:r>
              <a:rPr lang="en-US" sz="36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SEMANTICA</a:t>
            </a:r>
            <a:endParaRPr lang="en-US" sz="36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832336" y="3215740"/>
            <a:ext cx="3547872" cy="82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Builds structured context and Knowledge Graphs</a:t>
            </a:r>
            <a:endParaRPr lang="en-US" sz="240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832336" y="4151857"/>
            <a:ext cx="3090672" cy="82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Uses graph traversal and semantic search</a:t>
            </a:r>
            <a:endParaRPr lang="en-US" sz="240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832336" y="5121451"/>
            <a:ext cx="3986784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09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Tracks decisions and provenance</a:t>
            </a:r>
            <a:endParaRPr lang="en-US" sz="209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832336" y="5728384"/>
            <a:ext cx="4297680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09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Supports reasoning and governance</a:t>
            </a:r>
            <a:endParaRPr lang="en-US" sz="209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832336" y="6316406"/>
            <a:ext cx="2084832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Detects conflicts</a:t>
            </a:r>
            <a:endParaRPr lang="en-US" sz="216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832590" y="6927850"/>
            <a:ext cx="3411220" cy="3168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975"/>
              </a:lnSpc>
            </a:pPr>
            <a:r>
              <a:rPr lang="en-US" sz="212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Provides auditability</a:t>
            </a:r>
            <a:endParaRPr lang="en-US" sz="212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8705850" y="7496175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47700" y="8143875"/>
            <a:ext cx="16773525" cy="1714500"/>
          </a:xfrm>
          <a:custGeom>
            <a:avLst/>
            <a:gdLst/>
            <a:ahLst/>
            <a:cxnLst/>
            <a:rect l="l" t="t" r="r" b="b"/>
            <a:pathLst>
              <a:path w="16773525" h="1714500">
                <a:moveTo>
                  <a:pt x="0" y="0"/>
                </a:moveTo>
                <a:lnTo>
                  <a:pt x="16773525" y="0"/>
                </a:lnTo>
                <a:lnTo>
                  <a:pt x="1677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5876925" y="8353425"/>
            <a:ext cx="219075" cy="1295400"/>
          </a:xfrm>
          <a:custGeom>
            <a:avLst/>
            <a:gdLst/>
            <a:ahLst/>
            <a:cxnLst/>
            <a:rect l="l" t="t" r="r" b="b"/>
            <a:pathLst>
              <a:path w="219075" h="1295400">
                <a:moveTo>
                  <a:pt x="0" y="0"/>
                </a:moveTo>
                <a:lnTo>
                  <a:pt x="219075" y="0"/>
                </a:lnTo>
                <a:lnTo>
                  <a:pt x="219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877550" y="8353425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828800" y="8838392"/>
            <a:ext cx="1389888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50"/>
              </a:lnSpc>
            </a:pPr>
            <a:r>
              <a:rPr lang="en-US" sz="36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LLM =</a:t>
            </a:r>
            <a:endParaRPr lang="en-US" sz="36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949440" y="8838392"/>
            <a:ext cx="1389888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50"/>
              </a:lnSpc>
            </a:pPr>
            <a:r>
              <a:rPr lang="en-US" sz="36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RAG =</a:t>
            </a:r>
            <a:endParaRPr lang="en-US" sz="36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371850" y="8838392"/>
            <a:ext cx="1847088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650" b="1">
                <a:solidFill>
                  <a:srgbClr val="0062E8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Generate</a:t>
            </a:r>
            <a:endParaRPr lang="en-US" sz="3650" b="1">
              <a:solidFill>
                <a:srgbClr val="0062E8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1728" y="8838392"/>
            <a:ext cx="1737360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650" b="1">
                <a:solidFill>
                  <a:srgbClr val="0062E8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Retrieve</a:t>
            </a:r>
            <a:endParaRPr lang="en-US" sz="3650" b="1">
              <a:solidFill>
                <a:srgbClr val="0062E8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667744" y="8642939"/>
            <a:ext cx="2450592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50"/>
              </a:lnSpc>
            </a:pPr>
            <a:r>
              <a:rPr lang="en-US" sz="36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Semantica =</a:t>
            </a:r>
            <a:endParaRPr lang="en-US" sz="36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4301216" y="8642939"/>
            <a:ext cx="2304288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650" b="1">
                <a:solidFill>
                  <a:srgbClr val="0062E8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Connect +</a:t>
            </a:r>
            <a:endParaRPr lang="en-US" sz="3650" b="1">
              <a:solidFill>
                <a:srgbClr val="0062E8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686032" y="9105854"/>
            <a:ext cx="4901184" cy="4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650" b="1">
                <a:solidFill>
                  <a:srgbClr val="0062E8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Reason + Trace + Govern</a:t>
            </a:r>
            <a:endParaRPr lang="en-US" sz="3650" b="1">
              <a:solidFill>
                <a:srgbClr val="0062E8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9550" y="8572500"/>
            <a:ext cx="17649825" cy="1714500"/>
          </a:xfrm>
          <a:custGeom>
            <a:avLst/>
            <a:gdLst/>
            <a:ahLst/>
            <a:cxnLst/>
            <a:rect l="l" t="t" r="r" b="b"/>
            <a:pathLst>
              <a:path w="17649825" h="1714500">
                <a:moveTo>
                  <a:pt x="0" y="0"/>
                </a:moveTo>
                <a:lnTo>
                  <a:pt x="17649825" y="0"/>
                </a:lnTo>
                <a:lnTo>
                  <a:pt x="176498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41248" y="612255"/>
            <a:ext cx="9180576" cy="213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8505" b="1" spc="-170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Where Can Semantica Be Used?</a:t>
            </a:r>
            <a:endParaRPr lang="en-US" sz="8505" b="1" spc="-170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2609850" y="3000375"/>
            <a:ext cx="4581525" cy="3429000"/>
          </a:xfrm>
          <a:custGeom>
            <a:avLst/>
            <a:gdLst/>
            <a:ahLst/>
            <a:cxnLst/>
            <a:rect l="l" t="t" r="r" b="b"/>
            <a:pathLst>
              <a:path w="4581525" h="3429000">
                <a:moveTo>
                  <a:pt x="0" y="0"/>
                </a:moveTo>
                <a:lnTo>
                  <a:pt x="4581525" y="0"/>
                </a:lnTo>
                <a:lnTo>
                  <a:pt x="45815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15968" y="3520574"/>
            <a:ext cx="1481328" cy="51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sz="3010" b="1" spc="-60">
                <a:solidFill>
                  <a:srgbClr val="38B6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FINANCE</a:t>
            </a:r>
            <a:endParaRPr lang="en-US" sz="3010" b="1" spc="-60">
              <a:solidFill>
                <a:srgbClr val="38B6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31920" y="4271835"/>
            <a:ext cx="2249424" cy="1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Loan underwriting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Fraud detection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Regulatory risk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962775" y="3000375"/>
            <a:ext cx="4362450" cy="3429000"/>
          </a:xfrm>
          <a:custGeom>
            <a:avLst/>
            <a:gdLst/>
            <a:ahLst/>
            <a:cxnLst/>
            <a:rect l="l" t="t" r="r" b="b"/>
            <a:pathLst>
              <a:path w="4362450" h="3429000">
                <a:moveTo>
                  <a:pt x="0" y="0"/>
                </a:moveTo>
                <a:lnTo>
                  <a:pt x="4362450" y="0"/>
                </a:lnTo>
                <a:lnTo>
                  <a:pt x="43624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065135" y="3521075"/>
            <a:ext cx="2419350" cy="5340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265"/>
              </a:lnSpc>
            </a:pPr>
            <a:r>
              <a:rPr lang="en-US" sz="3045" b="1" spc="-60">
                <a:solidFill>
                  <a:srgbClr val="38B6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HEALTHCARE</a:t>
            </a:r>
            <a:endParaRPr lang="en-US" sz="3045" b="1" spc="-60">
              <a:solidFill>
                <a:srgbClr val="38B6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717536" y="4306783"/>
            <a:ext cx="2852928" cy="137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2370" spc="-47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Clinical decision support</a:t>
            </a:r>
            <a:endParaRPr lang="en-US" sz="2370" spc="-47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675"/>
              </a:lnSpc>
            </a:pPr>
            <a:r>
              <a:rPr lang="en-US" sz="2370" spc="-47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Drug interaction graphs</a:t>
            </a:r>
            <a:endParaRPr lang="en-US" sz="2370" spc="-47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675"/>
              </a:lnSpc>
            </a:pPr>
            <a:r>
              <a:rPr lang="en-US" sz="2370" spc="-47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Patient safety</a:t>
            </a:r>
            <a:endParaRPr lang="en-US" sz="2370" spc="-47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877550" y="3000375"/>
            <a:ext cx="4581525" cy="3429000"/>
          </a:xfrm>
          <a:custGeom>
            <a:avLst/>
            <a:gdLst/>
            <a:ahLst/>
            <a:cxnLst/>
            <a:rect l="l" t="t" r="r" b="b"/>
            <a:pathLst>
              <a:path w="4581525" h="3429000">
                <a:moveTo>
                  <a:pt x="0" y="0"/>
                </a:moveTo>
                <a:lnTo>
                  <a:pt x="4581525" y="0"/>
                </a:lnTo>
                <a:lnTo>
                  <a:pt x="45815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637008" y="3521024"/>
            <a:ext cx="1078992" cy="51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5" b="1" spc="-60">
                <a:solidFill>
                  <a:srgbClr val="38B6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LEGAL</a:t>
            </a:r>
            <a:endParaRPr lang="en-US" sz="3045" b="1" spc="-60">
              <a:solidFill>
                <a:srgbClr val="38B6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960352" y="4267860"/>
            <a:ext cx="2468880" cy="144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0"/>
              </a:lnSpc>
            </a:pPr>
            <a:r>
              <a:rPr lang="en-US" sz="2550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Evidence research</a:t>
            </a:r>
            <a:endParaRPr lang="en-US" sz="2550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950"/>
              </a:lnSpc>
            </a:pPr>
            <a:r>
              <a:rPr lang="en-US" sz="2550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Contract analysis</a:t>
            </a:r>
            <a:endParaRPr lang="en-US" sz="2550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950"/>
              </a:lnSpc>
            </a:pPr>
            <a:r>
              <a:rPr lang="en-US" sz="2550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Case-law reasoning</a:t>
            </a:r>
            <a:endParaRPr lang="en-US" sz="2550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2171700" y="6210300"/>
            <a:ext cx="5019675" cy="3438525"/>
          </a:xfrm>
          <a:custGeom>
            <a:avLst/>
            <a:gdLst/>
            <a:ahLst/>
            <a:cxnLst/>
            <a:rect l="l" t="t" r="r" b="b"/>
            <a:pathLst>
              <a:path w="5019675" h="3438525">
                <a:moveTo>
                  <a:pt x="0" y="0"/>
                </a:moveTo>
                <a:lnTo>
                  <a:pt x="5019675" y="0"/>
                </a:lnTo>
                <a:lnTo>
                  <a:pt x="50196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108960" y="6813939"/>
            <a:ext cx="3639312" cy="43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2620" b="1" spc="-52">
                <a:solidFill>
                  <a:srgbClr val="38B6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GOVERNMENT &amp; DEFENSE</a:t>
            </a:r>
            <a:endParaRPr lang="en-US" sz="2620" b="1" spc="-52">
              <a:solidFill>
                <a:srgbClr val="38B6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438144" y="7522527"/>
            <a:ext cx="2999232" cy="1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Policy decisions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Information governance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Risk and compliance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962775" y="6210300"/>
            <a:ext cx="4362450" cy="3438525"/>
          </a:xfrm>
          <a:custGeom>
            <a:avLst/>
            <a:gdLst/>
            <a:ahLst/>
            <a:cxnLst/>
            <a:rect l="l" t="t" r="r" b="b"/>
            <a:pathLst>
              <a:path w="4362450" h="3438525">
                <a:moveTo>
                  <a:pt x="0" y="0"/>
                </a:moveTo>
                <a:lnTo>
                  <a:pt x="4362450" y="0"/>
                </a:lnTo>
                <a:lnTo>
                  <a:pt x="4362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863840" y="6797675"/>
            <a:ext cx="2769235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65"/>
              </a:lnSpc>
            </a:pPr>
            <a:r>
              <a:rPr lang="en-US" sz="2835" b="1" spc="-56">
                <a:solidFill>
                  <a:srgbClr val="38B6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CYBERSECURITY</a:t>
            </a:r>
            <a:endParaRPr lang="en-US" sz="2835" b="1" spc="-56">
              <a:solidFill>
                <a:srgbClr val="38B6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10144" y="7522527"/>
            <a:ext cx="2267712" cy="1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Threat attribution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Incident response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3895"/>
              </a:lnSpc>
            </a:pPr>
            <a:r>
              <a:rPr lang="en-US" sz="2515" spc="-50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IOCprovenance</a:t>
            </a:r>
            <a:endParaRPr lang="en-US" sz="2515" spc="-50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0877550" y="6210300"/>
            <a:ext cx="5238750" cy="3438525"/>
          </a:xfrm>
          <a:custGeom>
            <a:avLst/>
            <a:gdLst/>
            <a:ahLst/>
            <a:cxnLst/>
            <a:rect l="l" t="t" r="r" b="b"/>
            <a:pathLst>
              <a:path w="5238750" h="3438525">
                <a:moveTo>
                  <a:pt x="0" y="0"/>
                </a:moveTo>
                <a:lnTo>
                  <a:pt x="5238750" y="0"/>
                </a:lnTo>
                <a:lnTo>
                  <a:pt x="52387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503025" y="6801485"/>
            <a:ext cx="3760470" cy="4400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865"/>
              </a:lnSpc>
            </a:pPr>
            <a:r>
              <a:rPr lang="en-US" sz="2760" b="1" spc="-55">
                <a:solidFill>
                  <a:srgbClr val="38B6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AUTONOMOUS SYSTEMS</a:t>
            </a:r>
            <a:endParaRPr lang="en-US" sz="2760" b="1" spc="-55">
              <a:solidFill>
                <a:srgbClr val="38B6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216130" y="7495540"/>
            <a:ext cx="2574290" cy="15601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005"/>
              </a:lnSpc>
            </a:pPr>
            <a:r>
              <a:rPr lang="en-US" sz="2585" spc="-51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Decision logs</a:t>
            </a:r>
            <a:endParaRPr lang="en-US" sz="2585" spc="-51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4005"/>
              </a:lnSpc>
            </a:pPr>
            <a:r>
              <a:rPr lang="en-US" sz="2585" spc="-51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Safety validation</a:t>
            </a:r>
            <a:endParaRPr lang="en-US" sz="2585" spc="-51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  <a:p>
            <a:pPr algn="ctr">
              <a:lnSpc>
                <a:spcPts val="4005"/>
              </a:lnSpc>
            </a:pPr>
            <a:r>
              <a:rPr lang="en-US" sz="2585" spc="-51">
                <a:solidFill>
                  <a:srgbClr val="FFFFFF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Explainable AI</a:t>
            </a:r>
            <a:endParaRPr lang="en-US" sz="2585" spc="-51">
              <a:solidFill>
                <a:srgbClr val="FFFFFF"/>
              </a:solidFill>
              <a:latin typeface="IBM Plex Sans Condensed" panose="020B0506050203000203"/>
              <a:ea typeface="IBM Plex Sans Condensed" panose="020B0506050203000203"/>
              <a:cs typeface="IBM Plex Sans Condensed" panose="020B0506050203000203"/>
              <a:sym typeface="IBM Plex Sans Condensed" panose="020B050605020300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6656" y="941554"/>
            <a:ext cx="5340096" cy="1210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35"/>
              </a:lnSpc>
            </a:pPr>
            <a:r>
              <a:rPr lang="en-US" sz="9035" b="1" spc="-180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Conclusion</a:t>
            </a:r>
            <a:endParaRPr lang="en-US" sz="9035" b="1" spc="-180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914400" y="7552690"/>
            <a:ext cx="16554450" cy="219075"/>
          </a:xfrm>
          <a:custGeom>
            <a:avLst/>
            <a:gdLst/>
            <a:ahLst/>
            <a:cxnLst/>
            <a:rect l="l" t="t" r="r" b="b"/>
            <a:pathLst>
              <a:path w="16554450" h="219075">
                <a:moveTo>
                  <a:pt x="0" y="0"/>
                </a:moveTo>
                <a:lnTo>
                  <a:pt x="16554450" y="0"/>
                </a:lnTo>
                <a:lnTo>
                  <a:pt x="1655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15400" y="727710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1000" y="7886700"/>
            <a:ext cx="17430750" cy="2152650"/>
          </a:xfrm>
          <a:custGeom>
            <a:avLst/>
            <a:gdLst/>
            <a:ahLst/>
            <a:cxnLst/>
            <a:rect l="l" t="t" r="r" b="b"/>
            <a:pathLst>
              <a:path w="17430750" h="2152650">
                <a:moveTo>
                  <a:pt x="0" y="0"/>
                </a:moveTo>
                <a:lnTo>
                  <a:pt x="17430750" y="0"/>
                </a:lnTo>
                <a:lnTo>
                  <a:pt x="174307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72768" y="8038155"/>
            <a:ext cx="1060704" cy="58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spc="-89">
                <a:solidFill>
                  <a:srgbClr val="008AFE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LLM</a:t>
            </a:r>
            <a:endParaRPr lang="en-US" sz="4500" b="1" spc="-89">
              <a:solidFill>
                <a:srgbClr val="008AFE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35024" y="8587996"/>
            <a:ext cx="1609344" cy="43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0"/>
              </a:lnSpc>
            </a:pPr>
            <a:r>
              <a:rPr lang="en-US" sz="2585" b="1" spc="5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generates</a:t>
            </a:r>
            <a:endParaRPr lang="en-US" sz="2585" b="1" spc="5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695700" y="814387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03520" y="8038155"/>
            <a:ext cx="1097280" cy="58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spc="-89">
                <a:solidFill>
                  <a:srgbClr val="008AFE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RAG</a:t>
            </a:r>
            <a:endParaRPr lang="en-US" sz="4500" b="1" spc="-89">
              <a:solidFill>
                <a:srgbClr val="008AFE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175504" y="8587996"/>
            <a:ext cx="1444752" cy="43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0"/>
              </a:lnSpc>
            </a:pPr>
            <a:r>
              <a:rPr lang="en-US" sz="2585" b="1" spc="51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retrieves</a:t>
            </a:r>
            <a:endParaRPr lang="en-US" sz="2585" b="1" spc="51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7181850" y="81438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503920" y="8292213"/>
            <a:ext cx="3182112" cy="64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5"/>
              </a:lnSpc>
            </a:pPr>
            <a:r>
              <a:rPr lang="en-US" sz="4925" b="1" spc="-98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SEMANTICA</a:t>
            </a:r>
            <a:endParaRPr lang="en-US" sz="4925" b="1" spc="-98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1972925" y="81438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350240" y="7891270"/>
            <a:ext cx="3364992" cy="1243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1" spc="50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structures, connects, reasons, traces</a:t>
            </a:r>
            <a:endParaRPr lang="en-US" sz="2550" b="1" spc="50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  <a:p>
            <a:pPr algn="l">
              <a:lnSpc>
                <a:spcPts val="3315"/>
              </a:lnSpc>
            </a:pPr>
            <a:r>
              <a:rPr lang="en-US" sz="2550" b="1" spc="50">
                <a:solidFill>
                  <a:srgbClr val="FFFFFF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and audits.</a:t>
            </a:r>
            <a:endParaRPr lang="en-US" sz="2550" b="1" spc="50">
              <a:solidFill>
                <a:srgbClr val="FFFFFF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6910" y="2413000"/>
            <a:ext cx="9186545" cy="38690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672465" lvl="1" indent="-336550" algn="l">
              <a:lnSpc>
                <a:spcPts val="4360"/>
              </a:lnSpc>
              <a:buFont typeface="Arial" panose="020B0604020202020204"/>
              <a:buChar char="•"/>
            </a:pPr>
            <a:r>
              <a:rPr lang="en-US" sz="31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Semantica is an infrastructure layer, not an LLM</a:t>
            </a:r>
            <a:endParaRPr lang="en-US" sz="31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672465" lvl="1" indent="-336550" algn="l">
              <a:lnSpc>
                <a:spcPts val="4360"/>
              </a:lnSpc>
              <a:buFont typeface="Arial" panose="020B0604020202020204"/>
              <a:buChar char="•"/>
            </a:pPr>
            <a:r>
              <a:rPr lang="en-US" sz="31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Complements LLMs, RAG, vector stores, and agents</a:t>
            </a:r>
            <a:endParaRPr lang="en-US" sz="31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672465" lvl="1" indent="-336550" algn="l">
              <a:lnSpc>
                <a:spcPts val="4360"/>
              </a:lnSpc>
              <a:buFont typeface="Arial" panose="020B0604020202020204"/>
              <a:buChar char="•"/>
            </a:pPr>
            <a:r>
              <a:rPr lang="en-US" sz="31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Builds Knowledge/Context Graphs</a:t>
            </a:r>
            <a:endParaRPr lang="en-US" sz="31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672465" lvl="1" indent="-336550" algn="l">
              <a:lnSpc>
                <a:spcPts val="4360"/>
              </a:lnSpc>
              <a:buFont typeface="Arial" panose="020B0604020202020204"/>
              <a:buChar char="•"/>
            </a:pPr>
            <a:r>
              <a:rPr lang="en-US" sz="31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Provides reasoning and decision intelligence</a:t>
            </a:r>
            <a:endParaRPr lang="en-US" sz="31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672465" lvl="1" indent="-336550" algn="l">
              <a:lnSpc>
                <a:spcPts val="4360"/>
              </a:lnSpc>
              <a:buFont typeface="Arial" panose="020B0604020202020204"/>
              <a:buChar char="•"/>
            </a:pPr>
            <a:r>
              <a:rPr lang="en-US" sz="31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Tracks provenance and lineage</a:t>
            </a:r>
            <a:endParaRPr lang="en-US" sz="31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672465" lvl="1" indent="-336550" algn="l">
              <a:lnSpc>
                <a:spcPts val="4360"/>
              </a:lnSpc>
              <a:buFont typeface="Arial" panose="020B0604020202020204"/>
              <a:buChar char="•"/>
            </a:pPr>
            <a:r>
              <a:rPr lang="en-US" sz="31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Detects conflicts and duplicates</a:t>
            </a:r>
            <a:endParaRPr lang="en-US" sz="31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672465" lvl="1" indent="-336550" algn="l">
              <a:lnSpc>
                <a:spcPts val="4360"/>
              </a:lnSpc>
              <a:buFont typeface="Arial" panose="020B0604020202020204"/>
              <a:buChar char="•"/>
            </a:pPr>
            <a:r>
              <a:rPr lang="en-US" sz="31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Supports governance and auditability</a:t>
            </a:r>
            <a:endParaRPr lang="en-US" sz="31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672465" lvl="1" indent="-336550" algn="l">
              <a:lnSpc>
                <a:spcPts val="4360"/>
              </a:lnSpc>
              <a:buFont typeface="Arial" panose="020B0604020202020204"/>
              <a:buChar char="•"/>
            </a:pPr>
            <a:r>
              <a:rPr lang="en-US" sz="3115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Useful for high-stakes AI applications</a:t>
            </a:r>
            <a:endParaRPr lang="en-US" sz="3115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8229704" y="1028700"/>
            <a:ext cx="10020300" cy="5791200"/>
          </a:xfrm>
          <a:custGeom>
            <a:avLst/>
            <a:gdLst/>
            <a:ahLst/>
            <a:cxnLst/>
            <a:rect l="l" t="t" r="r" b="b"/>
            <a:pathLst>
              <a:path w="10020300" h="5791200">
                <a:moveTo>
                  <a:pt x="0" y="0"/>
                </a:moveTo>
                <a:lnTo>
                  <a:pt x="10020300" y="0"/>
                </a:lnTo>
                <a:lnTo>
                  <a:pt x="100203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pPr algn="l">
              <a:lnSpc>
                <a:spcPts val="9035"/>
              </a:lnSpc>
            </a:pPr>
            <a:endParaRPr lang="en-US" sz="9040"/>
          </a:p>
        </p:txBody>
      </p:sp>
      <p:sp>
        <p:nvSpPr>
          <p:cNvPr id="4" name="TextBox 3"/>
          <p:cNvSpPr txBox="1"/>
          <p:nvPr/>
        </p:nvSpPr>
        <p:spPr>
          <a:xfrm>
            <a:off x="1066800" y="2628900"/>
            <a:ext cx="7783830" cy="16757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9035"/>
              </a:lnSpc>
            </a:pPr>
            <a:r>
              <a:rPr lang="en-US" sz="9035" b="1" spc="-180">
                <a:solidFill>
                  <a:srgbClr val="FFFFFF"/>
                </a:solidFill>
                <a:latin typeface="IBM Plex Sans Condensed Bold" panose="020B0806050203000203"/>
                <a:ea typeface="IBM Plex Sans Condensed Bold" panose="020B0806050203000203"/>
                <a:cs typeface="IBM Plex Sans Condensed Bold" panose="020B0806050203000203"/>
                <a:sym typeface="IBM Plex Sans Condensed Bold" panose="020B0806050203000203"/>
              </a:rPr>
              <a:t>Thank You!!!</a:t>
            </a:r>
            <a:endParaRPr lang="en-US" sz="9035" b="1" spc="-180">
              <a:solidFill>
                <a:srgbClr val="FFFFFF"/>
              </a:solidFill>
              <a:latin typeface="IBM Plex Sans Condensed Bold" panose="020B0806050203000203"/>
              <a:ea typeface="IBM Plex Sans Condensed Bold" panose="020B0806050203000203"/>
              <a:cs typeface="IBM Plex Sans Condensed Bold" panose="020B0806050203000203"/>
              <a:sym typeface="IBM Plex Sans Condensed Bold" panose="020B0806050203000203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7162904" y="4533900"/>
            <a:ext cx="10020300" cy="5791200"/>
          </a:xfrm>
          <a:custGeom>
            <a:avLst/>
            <a:gdLst/>
            <a:ahLst/>
            <a:cxnLst/>
            <a:rect l="l" t="t" r="r" b="b"/>
            <a:pathLst>
              <a:path w="10020300" h="5791200">
                <a:moveTo>
                  <a:pt x="0" y="0"/>
                </a:moveTo>
                <a:lnTo>
                  <a:pt x="10020300" y="0"/>
                </a:lnTo>
                <a:lnTo>
                  <a:pt x="100203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4218</Words>
  <Application>WPS Presentation</Application>
  <PresentationFormat>On-screen Show (4:3)</PresentationFormat>
  <Paragraphs>335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IBM Plex Sans Condensed Bold</vt:lpstr>
      <vt:lpstr>IBM Plex Sans Bold</vt:lpstr>
      <vt:lpstr>IBM Plex Sans</vt:lpstr>
      <vt:lpstr>Arial</vt:lpstr>
      <vt:lpstr>IBM Plex Sans Condensed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Medicine B</dc:title>
  <dc:creator/>
  <cp:lastModifiedBy>DhineshaGnanavel73</cp:lastModifiedBy>
  <cp:revision>3</cp:revision>
  <dcterms:created xsi:type="dcterms:W3CDTF">2006-08-16T00:00:00Z</dcterms:created>
  <dcterms:modified xsi:type="dcterms:W3CDTF">2026-08-24T10:17:05Z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9F77D0EA6D714250AD693B4A5AB44030_13</vt:lpwstr>
  </property>
</Properties>
</file>